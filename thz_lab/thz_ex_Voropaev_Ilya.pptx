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15"/>
  </p:notesMasterIdLst>
  <p:sldIdLst>
    <p:sldId id="256" r:id="rId2"/>
    <p:sldId id="950" r:id="rId3"/>
    <p:sldId id="986" r:id="rId4"/>
    <p:sldId id="987" r:id="rId5"/>
    <p:sldId id="988" r:id="rId6"/>
    <p:sldId id="990" r:id="rId7"/>
    <p:sldId id="991" r:id="rId8"/>
    <p:sldId id="992" r:id="rId9"/>
    <p:sldId id="995" r:id="rId10"/>
    <p:sldId id="993" r:id="rId11"/>
    <p:sldId id="994" r:id="rId12"/>
    <p:sldId id="996" r:id="rId13"/>
    <p:sldId id="957" r:id="rId14"/>
  </p:sldIdLst>
  <p:sldSz cx="12192000" cy="6858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Futura PT Book" panose="020B0502020204020303" pitchFamily="34" charset="-52"/>
      <p:regular r:id="rId17"/>
    </p:embeddedFont>
    <p:embeddedFont>
      <p:font typeface="Futura PT Light" panose="020B0402020204020303" pitchFamily="34" charset="-52"/>
      <p:regular r:id="rId18"/>
    </p:embeddedFont>
    <p:embeddedFont>
      <p:font typeface="Futura PT Medium" panose="020B0602020204020303" pitchFamily="34" charset="-52"/>
      <p:regular r:id="rId19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40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204" autoAdjust="0"/>
    <p:restoredTop sz="95033" autoAdjust="0"/>
  </p:normalViewPr>
  <p:slideViewPr>
    <p:cSldViewPr snapToGrid="0">
      <p:cViewPr varScale="1">
        <p:scale>
          <a:sx n="82" d="100"/>
          <a:sy n="82" d="100"/>
        </p:scale>
        <p:origin x="7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DE1ACD-E3F2-4A20-A7FA-D5D6BEB5F029}" type="datetimeFigureOut">
              <a:rPr lang="ru-RU" smtClean="0"/>
              <a:t>16.01.2026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40FCE-452E-4492-9500-DF41E923553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017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D8DDE5-FB0A-3BAF-C41B-21191430BF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8E07BC7-7F99-2CA2-D469-E8764416CC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BDCE6E-36B0-2DD9-07C1-8FA1CAC399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01AC04-65A2-4497-8806-0C4B4810188C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6BF2774-B0D1-44CC-25CA-B1014085E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DDCDF72-89FD-037B-7B65-CABCB451E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475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BA1A86-0F2E-E235-7990-75749DF49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65A8A60-5F38-B69B-8157-150B0EF24D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0249FD1-6C06-7C52-F475-4ADBB672D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6BF881-F51D-4573-951D-89694CD2B031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65B1E0F-117D-887D-00A9-8FCA0B05A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2EED28B-60B2-DE95-1595-669DC5774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33008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BCA788-6BFB-3DD6-3D2D-979A6DBFD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4321A00-645E-5D13-DBBB-4E2896E3A0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1B2A83A-947D-B56A-090B-052D5F95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5D5B3-542C-4CA3-9D18-F66846A7CF6D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D8644C9-E6B9-5A6B-D3A8-945C72736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8F73615-1EA2-6C13-7DD0-C8AEF7727E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6858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5FC568-066B-87B5-8B7D-18432BE5AA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AA07E2-4BF3-31A2-674D-D34265E33B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7EBD6E1-59F4-5A49-C49D-B1AC7165D44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B632FAC-151B-7CC5-1987-C21AF07E0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51A350-1159-4DCD-A2BF-A1B7E529E451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9EDAA2B-47E0-04F2-2DD3-BE428C853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079C5C2-1902-3717-FEE9-0184B29D9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42925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F1F9B4-9EA7-39E0-2DDE-FB84A650AF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B8794D7-F37C-8228-11A6-07DD7C4131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C926FDD-E446-AB31-68E3-EBC28C43F7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DC83A0A7-FD91-DE07-E26C-BC4D0C0B82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B1B0D9E-3850-56CB-7928-CE33F6E557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081703C-D66B-235D-D28B-C65727CB36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572E5-5519-478A-BD39-0D751FBA4CC8}" type="datetime1">
              <a:rPr lang="ru-RU" smtClean="0"/>
              <a:t>16.01.2026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A75D8641-159E-57F4-5658-D5040AA91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BF6C8B23-19B8-B19E-C0D1-E9E50407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4420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F6A1EDA-B007-FE85-D17E-8A2218EB09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5AA5C3F-DEF1-ABE2-F5D0-234167960A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A98F43-809B-49AC-994D-D2D3B8543E4D}" type="datetime1">
              <a:rPr lang="ru-RU" smtClean="0"/>
              <a:t>16.01.2026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32B4E608-DA2E-C72E-559F-245E1B3EF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B3CB2FE-A10B-4755-C37C-4B341472C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2218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939B4670-6B32-9B49-6CFD-CEFEF6EBA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DB883B-C6E3-4C6C-B9F8-24B153921A72}" type="datetime1">
              <a:rPr lang="ru-RU" smtClean="0"/>
              <a:t>16.01.2026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E0FB92A-5D2A-C23E-3123-80940A52A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883E5E0-4B22-0CC8-54CE-C22E6E0B6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2291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0AADED-73A1-4BC7-36CD-FA1C5E260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02189B-3F4B-B7BE-EB8B-51C0E575B5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BED1D07-B163-F6D0-AED2-1C12DA7CED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49434CA-F7C7-59DD-7FAB-2650126E7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29746D-E337-4307-94EB-BFE053565898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8F1C6A5-E0EA-6216-D18F-F0F29BA1D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29804BB-4788-DA09-E309-9511F1789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72778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7DA5DD-6FB9-FD65-E712-1EA629D4F5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58C811C1-9EC4-31E2-CEE1-9DD8E421BB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AF99842-426D-0432-214E-51708DA339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FDC56B-1881-B793-BAE7-BD9CE25C3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14EE74-762D-4787-888C-00040548CDD0}" type="datetime1">
              <a:rPr lang="ru-RU" smtClean="0"/>
              <a:t>16.01.2026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130A86B-E101-59BF-AE71-7D31EAEE9E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4278CE-BB78-651D-45BE-5E69DF0CB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914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D6A34B0-81B7-A307-EB98-4D1E7ADD3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6DDE576-32B5-0582-B72D-5B93045C3C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D063F8D-1729-7545-C853-43E5F64CC8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525DC2-8C90-4C1A-B880-E1B3267A35A8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C77718-1B3D-3701-5A6A-AB4C2CED2F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B30F39-80F4-ACF9-DB8B-0F8B960EF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8476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81D00976-FA85-28D8-F24C-F9C4876B34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447B40-4D74-22EF-B914-F4BA9FC57BF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FAE33D-9FC7-1855-0F30-D88FD9F84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43847-166E-4D03-B9ED-DE54746CDD5B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45606D2-D29D-7EE7-41FA-31CEEFEC6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0CEE5B0-6F97-476E-D418-4F3C31280D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03017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Обычны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64877B-5625-41E2-9BDF-2E825F6E4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666128"/>
            <a:ext cx="9359900" cy="582809"/>
          </a:xfrm>
        </p:spPr>
        <p:txBody>
          <a:bodyPr lIns="0" tIns="36000" rIns="36000" bIns="36000" anchor="t" anchorCtr="0">
            <a:noAutofit/>
          </a:bodyPr>
          <a:lstStyle>
            <a:lvl1pPr>
              <a:lnSpc>
                <a:spcPct val="85000"/>
              </a:lnSpc>
              <a:defRPr sz="3200" baseline="0"/>
            </a:lvl1pPr>
          </a:lstStyle>
          <a:p>
            <a:r>
              <a:rPr lang="ru-RU"/>
              <a:t>Образец заголовка</a:t>
            </a:r>
          </a:p>
        </p:txBody>
      </p: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EFE29067-9A85-4FA6-B0F2-DF530DB583A6}"/>
              </a:ext>
            </a:extLst>
          </p:cNvPr>
          <p:cNvGrpSpPr/>
          <p:nvPr userDrawn="1"/>
        </p:nvGrpSpPr>
        <p:grpSpPr>
          <a:xfrm>
            <a:off x="10826325" y="477714"/>
            <a:ext cx="750299" cy="542069"/>
            <a:chOff x="6541928" y="1050039"/>
            <a:chExt cx="2970582" cy="2146162"/>
          </a:xfrm>
          <a:solidFill>
            <a:srgbClr val="1E22AA"/>
          </a:solidFill>
        </p:grpSpPr>
        <p:sp>
          <p:nvSpPr>
            <p:cNvPr id="18" name="Полилиния: фигура 17">
              <a:extLst>
                <a:ext uri="{FF2B5EF4-FFF2-40B4-BE49-F238E27FC236}">
                  <a16:creationId xmlns:a16="http://schemas.microsoft.com/office/drawing/2014/main" id="{C61DC770-F8A6-43E9-B9CF-FC3D1026A4BB}"/>
                </a:ext>
              </a:extLst>
            </p:cNvPr>
            <p:cNvSpPr/>
            <p:nvPr/>
          </p:nvSpPr>
          <p:spPr>
            <a:xfrm>
              <a:off x="7440026" y="1655970"/>
              <a:ext cx="527172" cy="456670"/>
            </a:xfrm>
            <a:custGeom>
              <a:avLst/>
              <a:gdLst>
                <a:gd name="connsiteX0" fmla="*/ 263586 w 527172"/>
                <a:gd name="connsiteY0" fmla="*/ 0 h 456670"/>
                <a:gd name="connsiteX1" fmla="*/ 0 w 527172"/>
                <a:gd name="connsiteY1" fmla="*/ 456671 h 456670"/>
                <a:gd name="connsiteX2" fmla="*/ 527172 w 527172"/>
                <a:gd name="connsiteY2" fmla="*/ 456671 h 4566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7172" h="456670">
                  <a:moveTo>
                    <a:pt x="263586" y="0"/>
                  </a:moveTo>
                  <a:lnTo>
                    <a:pt x="0" y="456671"/>
                  </a:lnTo>
                  <a:lnTo>
                    <a:pt x="527172" y="456671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9" name="Полилиния: фигура 18">
              <a:extLst>
                <a:ext uri="{FF2B5EF4-FFF2-40B4-BE49-F238E27FC236}">
                  <a16:creationId xmlns:a16="http://schemas.microsoft.com/office/drawing/2014/main" id="{241C66E6-A094-45C3-BB0C-D79779E22E8E}"/>
                </a:ext>
              </a:extLst>
            </p:cNvPr>
            <p:cNvSpPr/>
            <p:nvPr/>
          </p:nvSpPr>
          <p:spPr>
            <a:xfrm>
              <a:off x="6881732" y="1050039"/>
              <a:ext cx="878408" cy="1062601"/>
            </a:xfrm>
            <a:custGeom>
              <a:avLst/>
              <a:gdLst>
                <a:gd name="connsiteX0" fmla="*/ 342344 w 878408"/>
                <a:gd name="connsiteY0" fmla="*/ 0 h 1062601"/>
                <a:gd name="connsiteX1" fmla="*/ 0 w 878408"/>
                <a:gd name="connsiteY1" fmla="*/ 593227 h 1062601"/>
                <a:gd name="connsiteX2" fmla="*/ 0 w 878408"/>
                <a:gd name="connsiteY2" fmla="*/ 1062601 h 1062601"/>
                <a:gd name="connsiteX3" fmla="*/ 538605 w 878408"/>
                <a:gd name="connsiteY3" fmla="*/ 1062601 h 1062601"/>
                <a:gd name="connsiteX4" fmla="*/ 538605 w 878408"/>
                <a:gd name="connsiteY4" fmla="*/ 589417 h 1062601"/>
                <a:gd name="connsiteX5" fmla="*/ 878408 w 878408"/>
                <a:gd name="connsiteY5" fmla="*/ 0 h 1062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78408" h="1062601">
                  <a:moveTo>
                    <a:pt x="342344" y="0"/>
                  </a:moveTo>
                  <a:lnTo>
                    <a:pt x="0" y="593227"/>
                  </a:lnTo>
                  <a:lnTo>
                    <a:pt x="0" y="1062601"/>
                  </a:lnTo>
                  <a:lnTo>
                    <a:pt x="538605" y="1062601"/>
                  </a:lnTo>
                  <a:lnTo>
                    <a:pt x="538605" y="589417"/>
                  </a:lnTo>
                  <a:lnTo>
                    <a:pt x="878408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Полилиния: фигура 19">
              <a:extLst>
                <a:ext uri="{FF2B5EF4-FFF2-40B4-BE49-F238E27FC236}">
                  <a16:creationId xmlns:a16="http://schemas.microsoft.com/office/drawing/2014/main" id="{7EBBDAB0-961C-4587-A890-D26C91F956F4}"/>
                </a:ext>
              </a:extLst>
            </p:cNvPr>
            <p:cNvSpPr/>
            <p:nvPr/>
          </p:nvSpPr>
          <p:spPr>
            <a:xfrm>
              <a:off x="7987523" y="2153290"/>
              <a:ext cx="601484" cy="1042911"/>
            </a:xfrm>
            <a:custGeom>
              <a:avLst/>
              <a:gdLst>
                <a:gd name="connsiteX0" fmla="*/ 0 w 601484"/>
                <a:gd name="connsiteY0" fmla="*/ 1042912 h 1042911"/>
                <a:gd name="connsiteX1" fmla="*/ 601484 w 601484"/>
                <a:gd name="connsiteY1" fmla="*/ 1042912 h 1042911"/>
                <a:gd name="connsiteX2" fmla="*/ 0 w 601484"/>
                <a:gd name="connsiteY2" fmla="*/ 0 h 10429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01484" h="1042911">
                  <a:moveTo>
                    <a:pt x="0" y="1042912"/>
                  </a:moveTo>
                  <a:lnTo>
                    <a:pt x="601484" y="1042912"/>
                  </a:lnTo>
                  <a:lnTo>
                    <a:pt x="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Полилиния: фигура 20">
              <a:extLst>
                <a:ext uri="{FF2B5EF4-FFF2-40B4-BE49-F238E27FC236}">
                  <a16:creationId xmlns:a16="http://schemas.microsoft.com/office/drawing/2014/main" id="{DFA079BE-415D-474E-B368-9AB508C07C86}"/>
                </a:ext>
              </a:extLst>
            </p:cNvPr>
            <p:cNvSpPr/>
            <p:nvPr/>
          </p:nvSpPr>
          <p:spPr>
            <a:xfrm>
              <a:off x="6881732" y="2133600"/>
              <a:ext cx="537969" cy="1062600"/>
            </a:xfrm>
            <a:custGeom>
              <a:avLst/>
              <a:gdLst>
                <a:gd name="connsiteX0" fmla="*/ 0 w 537969"/>
                <a:gd name="connsiteY0" fmla="*/ 0 h 1062600"/>
                <a:gd name="connsiteX1" fmla="*/ 537970 w 537969"/>
                <a:gd name="connsiteY1" fmla="*/ 0 h 1062600"/>
                <a:gd name="connsiteX2" fmla="*/ 537970 w 537969"/>
                <a:gd name="connsiteY2" fmla="*/ 1062601 h 1062600"/>
                <a:gd name="connsiteX3" fmla="*/ 0 w 537969"/>
                <a:gd name="connsiteY3" fmla="*/ 1062601 h 106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969" h="1062600">
                  <a:moveTo>
                    <a:pt x="0" y="0"/>
                  </a:moveTo>
                  <a:lnTo>
                    <a:pt x="537970" y="0"/>
                  </a:lnTo>
                  <a:lnTo>
                    <a:pt x="537970" y="1062601"/>
                  </a:lnTo>
                  <a:lnTo>
                    <a:pt x="0" y="1062601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2" name="Полилиния: фигура 21">
              <a:extLst>
                <a:ext uri="{FF2B5EF4-FFF2-40B4-BE49-F238E27FC236}">
                  <a16:creationId xmlns:a16="http://schemas.microsoft.com/office/drawing/2014/main" id="{FAF7425E-9A02-46B1-A140-813741DA7BEA}"/>
                </a:ext>
              </a:extLst>
            </p:cNvPr>
            <p:cNvSpPr/>
            <p:nvPr/>
          </p:nvSpPr>
          <p:spPr>
            <a:xfrm>
              <a:off x="8450545" y="2133600"/>
              <a:ext cx="1061965" cy="1061965"/>
            </a:xfrm>
            <a:custGeom>
              <a:avLst/>
              <a:gdLst>
                <a:gd name="connsiteX0" fmla="*/ 530983 w 1061965"/>
                <a:gd name="connsiteY0" fmla="*/ 0 h 1061965"/>
                <a:gd name="connsiteX1" fmla="*/ 0 w 1061965"/>
                <a:gd name="connsiteY1" fmla="*/ 530983 h 1061965"/>
                <a:gd name="connsiteX2" fmla="*/ 530983 w 1061965"/>
                <a:gd name="connsiteY2" fmla="*/ 1061966 h 1061965"/>
                <a:gd name="connsiteX3" fmla="*/ 1061966 w 1061965"/>
                <a:gd name="connsiteY3" fmla="*/ 530983 h 1061965"/>
                <a:gd name="connsiteX4" fmla="*/ 530983 w 1061965"/>
                <a:gd name="connsiteY4" fmla="*/ 0 h 10619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61965" h="1061965">
                  <a:moveTo>
                    <a:pt x="530983" y="0"/>
                  </a:moveTo>
                  <a:cubicBezTo>
                    <a:pt x="238180" y="0"/>
                    <a:pt x="0" y="238180"/>
                    <a:pt x="0" y="530983"/>
                  </a:cubicBezTo>
                  <a:cubicBezTo>
                    <a:pt x="0" y="823786"/>
                    <a:pt x="238180" y="1061966"/>
                    <a:pt x="530983" y="1061966"/>
                  </a:cubicBezTo>
                  <a:cubicBezTo>
                    <a:pt x="823785" y="1061966"/>
                    <a:pt x="1061966" y="823786"/>
                    <a:pt x="1061966" y="530983"/>
                  </a:cubicBezTo>
                  <a:cubicBezTo>
                    <a:pt x="1061966" y="238180"/>
                    <a:pt x="823785" y="0"/>
                    <a:pt x="530983" y="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3" name="Полилиния: фигура 22">
              <a:extLst>
                <a:ext uri="{FF2B5EF4-FFF2-40B4-BE49-F238E27FC236}">
                  <a16:creationId xmlns:a16="http://schemas.microsoft.com/office/drawing/2014/main" id="{32CAD167-57AF-4404-94E9-BE6C9B239AA8}"/>
                </a:ext>
              </a:extLst>
            </p:cNvPr>
            <p:cNvSpPr/>
            <p:nvPr/>
          </p:nvSpPr>
          <p:spPr>
            <a:xfrm>
              <a:off x="7441297" y="2133600"/>
              <a:ext cx="531618" cy="1062600"/>
            </a:xfrm>
            <a:custGeom>
              <a:avLst/>
              <a:gdLst>
                <a:gd name="connsiteX0" fmla="*/ 0 w 531618"/>
                <a:gd name="connsiteY0" fmla="*/ 0 h 1062600"/>
                <a:gd name="connsiteX1" fmla="*/ 0 w 531618"/>
                <a:gd name="connsiteY1" fmla="*/ 0 h 1062600"/>
                <a:gd name="connsiteX2" fmla="*/ 0 w 531618"/>
                <a:gd name="connsiteY2" fmla="*/ 1062601 h 1062600"/>
                <a:gd name="connsiteX3" fmla="*/ 635 w 531618"/>
                <a:gd name="connsiteY3" fmla="*/ 1062601 h 1062600"/>
                <a:gd name="connsiteX4" fmla="*/ 531618 w 531618"/>
                <a:gd name="connsiteY4" fmla="*/ 531618 h 1062600"/>
                <a:gd name="connsiteX5" fmla="*/ 0 w 531618"/>
                <a:gd name="connsiteY5" fmla="*/ 0 h 1062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31618" h="1062600">
                  <a:moveTo>
                    <a:pt x="0" y="0"/>
                  </a:moveTo>
                  <a:lnTo>
                    <a:pt x="0" y="0"/>
                  </a:lnTo>
                  <a:lnTo>
                    <a:pt x="0" y="1062601"/>
                  </a:lnTo>
                  <a:lnTo>
                    <a:pt x="635" y="1062601"/>
                  </a:lnTo>
                  <a:cubicBezTo>
                    <a:pt x="293438" y="1062601"/>
                    <a:pt x="531618" y="824421"/>
                    <a:pt x="531618" y="531618"/>
                  </a:cubicBezTo>
                  <a:cubicBezTo>
                    <a:pt x="531618" y="238180"/>
                    <a:pt x="293438" y="0"/>
                    <a:pt x="0" y="0"/>
                  </a:cubicBezTo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4" name="Полилиния: фигура 23">
              <a:extLst>
                <a:ext uri="{FF2B5EF4-FFF2-40B4-BE49-F238E27FC236}">
                  <a16:creationId xmlns:a16="http://schemas.microsoft.com/office/drawing/2014/main" id="{D1F1D7F5-1002-4A9E-835A-2422FE401B8A}"/>
                </a:ext>
              </a:extLst>
            </p:cNvPr>
            <p:cNvSpPr/>
            <p:nvPr/>
          </p:nvSpPr>
          <p:spPr>
            <a:xfrm>
              <a:off x="7715680" y="1057661"/>
              <a:ext cx="942557" cy="1054979"/>
            </a:xfrm>
            <a:custGeom>
              <a:avLst/>
              <a:gdLst>
                <a:gd name="connsiteX0" fmla="*/ 276289 w 942557"/>
                <a:gd name="connsiteY0" fmla="*/ 1054980 h 1054979"/>
                <a:gd name="connsiteX1" fmla="*/ 942558 w 942557"/>
                <a:gd name="connsiteY1" fmla="*/ 1054980 h 1054979"/>
                <a:gd name="connsiteX2" fmla="*/ 333452 w 942557"/>
                <a:gd name="connsiteY2" fmla="*/ 0 h 1054979"/>
                <a:gd name="connsiteX3" fmla="*/ 0 w 942557"/>
                <a:gd name="connsiteY3" fmla="*/ 577349 h 10549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42557" h="1054979">
                  <a:moveTo>
                    <a:pt x="276289" y="1054980"/>
                  </a:moveTo>
                  <a:lnTo>
                    <a:pt x="942558" y="1054980"/>
                  </a:lnTo>
                  <a:lnTo>
                    <a:pt x="333452" y="0"/>
                  </a:lnTo>
                  <a:lnTo>
                    <a:pt x="0" y="577349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" name="Полилиния: фигура 24">
              <a:extLst>
                <a:ext uri="{FF2B5EF4-FFF2-40B4-BE49-F238E27FC236}">
                  <a16:creationId xmlns:a16="http://schemas.microsoft.com/office/drawing/2014/main" id="{CE206C75-F5E0-48D6-8CC6-F1FA348373EF}"/>
                </a:ext>
              </a:extLst>
            </p:cNvPr>
            <p:cNvSpPr/>
            <p:nvPr/>
          </p:nvSpPr>
          <p:spPr>
            <a:xfrm>
              <a:off x="8000226" y="2133600"/>
              <a:ext cx="482076" cy="512563"/>
            </a:xfrm>
            <a:custGeom>
              <a:avLst/>
              <a:gdLst>
                <a:gd name="connsiteX0" fmla="*/ 0 w 482076"/>
                <a:gd name="connsiteY0" fmla="*/ 0 h 512563"/>
                <a:gd name="connsiteX1" fmla="*/ 295978 w 482076"/>
                <a:gd name="connsiteY1" fmla="*/ 512564 h 512563"/>
                <a:gd name="connsiteX2" fmla="*/ 482077 w 482076"/>
                <a:gd name="connsiteY2" fmla="*/ 261681 h 512563"/>
                <a:gd name="connsiteX3" fmla="*/ 220396 w 482076"/>
                <a:gd name="connsiteY3" fmla="*/ 0 h 512563"/>
                <a:gd name="connsiteX4" fmla="*/ 0 w 482076"/>
                <a:gd name="connsiteY4" fmla="*/ 0 h 512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82076" h="512563">
                  <a:moveTo>
                    <a:pt x="0" y="0"/>
                  </a:moveTo>
                  <a:lnTo>
                    <a:pt x="295978" y="512564"/>
                  </a:lnTo>
                  <a:cubicBezTo>
                    <a:pt x="405859" y="479536"/>
                    <a:pt x="482077" y="377913"/>
                    <a:pt x="482077" y="261681"/>
                  </a:cubicBezTo>
                  <a:cubicBezTo>
                    <a:pt x="482077" y="117502"/>
                    <a:pt x="364575" y="0"/>
                    <a:pt x="220396" y="0"/>
                  </a:cubicBezTo>
                  <a:lnTo>
                    <a:pt x="0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" name="Полилиния: фигура 25">
              <a:extLst>
                <a:ext uri="{FF2B5EF4-FFF2-40B4-BE49-F238E27FC236}">
                  <a16:creationId xmlns:a16="http://schemas.microsoft.com/office/drawing/2014/main" id="{9B5B5760-D270-4B43-90A5-51265E32EE80}"/>
                </a:ext>
              </a:extLst>
            </p:cNvPr>
            <p:cNvSpPr/>
            <p:nvPr/>
          </p:nvSpPr>
          <p:spPr>
            <a:xfrm>
              <a:off x="6541928" y="1050039"/>
              <a:ext cx="658012" cy="570362"/>
            </a:xfrm>
            <a:custGeom>
              <a:avLst/>
              <a:gdLst>
                <a:gd name="connsiteX0" fmla="*/ 0 w 658012"/>
                <a:gd name="connsiteY0" fmla="*/ 0 h 570362"/>
                <a:gd name="connsiteX1" fmla="*/ 329006 w 658012"/>
                <a:gd name="connsiteY1" fmla="*/ 570362 h 570362"/>
                <a:gd name="connsiteX2" fmla="*/ 658012 w 658012"/>
                <a:gd name="connsiteY2" fmla="*/ 0 h 5703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58012" h="570362">
                  <a:moveTo>
                    <a:pt x="0" y="0"/>
                  </a:moveTo>
                  <a:lnTo>
                    <a:pt x="329006" y="570362"/>
                  </a:lnTo>
                  <a:lnTo>
                    <a:pt x="658012" y="0"/>
                  </a:lnTo>
                  <a:close/>
                </a:path>
              </a:pathLst>
            </a:custGeom>
            <a:grpFill/>
            <a:ln w="635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17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ru-RU" sz="1799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1" name="Номер слайда 5">
            <a:extLst>
              <a:ext uri="{FF2B5EF4-FFF2-40B4-BE49-F238E27FC236}">
                <a16:creationId xmlns:a16="http://schemas.microsoft.com/office/drawing/2014/main" id="{056A725C-5C28-4CE8-9869-A6985E168A78}"/>
              </a:ext>
            </a:extLst>
          </p:cNvPr>
          <p:cNvSpPr txBox="1">
            <a:spLocks/>
          </p:cNvSpPr>
          <p:nvPr userDrawn="1"/>
        </p:nvSpPr>
        <p:spPr>
          <a:xfrm>
            <a:off x="10920413" y="6613551"/>
            <a:ext cx="647699" cy="244449"/>
          </a:xfrm>
          <a:prstGeom prst="rect">
            <a:avLst/>
          </a:prstGeom>
          <a:solidFill>
            <a:srgbClr val="E6ECF2">
              <a:alpha val="50000"/>
            </a:srgbClr>
          </a:solidFill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46C0F658-17BA-4EAA-A76F-FF59549D2A05}" type="slidenum">
              <a:rPr lang="ru-RU" sz="1000" smtClean="0">
                <a:solidFill>
                  <a:schemeClr val="tx2"/>
                </a:solidFill>
              </a:rPr>
              <a:pPr algn="ctr"/>
              <a:t>‹#›</a:t>
            </a:fld>
            <a:endParaRPr lang="ru-RU" sz="10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9788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6" orient="horz" pos="402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34755F-4EAA-A8EC-3FA6-353B81D8E9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C05F3F8-91D6-87A8-7A0E-7314498F9B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9DB8EF2-9C9E-BE3F-643A-06B87F50BB3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0047FE-A678-4ABB-8990-D6308BB4FDD8}" type="datetime1">
              <a:rPr lang="ru-RU" smtClean="0"/>
              <a:t>16.01.2026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9759132-70ED-E208-885A-017342C307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3E01556-6C3E-FAD5-5BC7-FD539908AA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62E9659-7330-4041-992D-7E27EA1B5C7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04131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5">
            <a:extLst>
              <a:ext uri="{FF2B5EF4-FFF2-40B4-BE49-F238E27FC236}">
                <a16:creationId xmlns:a16="http://schemas.microsoft.com/office/drawing/2014/main" id="{ED4ED74F-A63A-B82F-7AFF-DD3F6A96AF66}"/>
              </a:ext>
            </a:extLst>
          </p:cNvPr>
          <p:cNvSpPr txBox="1"/>
          <p:nvPr/>
        </p:nvSpPr>
        <p:spPr>
          <a:xfrm>
            <a:off x="649521" y="987256"/>
            <a:ext cx="10304616" cy="18022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1" tIns="22849" rIns="45711" bIns="22849" anchor="t" anchorCtr="0">
            <a:noAutofit/>
          </a:bodyPr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ru-RU" sz="4799" kern="0" dirty="0">
                <a:latin typeface="Futura PT Medium" panose="020B0602020204020303" charset="-52"/>
                <a:cs typeface="Arial"/>
                <a:sym typeface="Arial"/>
              </a:rPr>
              <a:t>Терагерцовый диапазон в системах 6</a:t>
            </a:r>
            <a:r>
              <a:rPr lang="en-US" sz="4799" kern="0" dirty="0">
                <a:latin typeface="Futura PT Medium" panose="020B0602020204020303" charset="-52"/>
                <a:cs typeface="Arial"/>
                <a:sym typeface="Arial"/>
              </a:rPr>
              <a:t>G – </a:t>
            </a:r>
            <a:r>
              <a:rPr lang="ru-RU" sz="4799" kern="0" dirty="0">
                <a:latin typeface="Futura PT Medium" panose="020B0602020204020303" charset="-52"/>
                <a:cs typeface="Arial"/>
                <a:sym typeface="Arial"/>
              </a:rPr>
              <a:t>проблемы и исследования</a:t>
            </a:r>
            <a:endParaRPr kumimoji="0" lang="ru-RU" sz="4799" b="0" i="0" u="none" strike="noStrike" kern="0" cap="none" spc="0" normalizeH="0" baseline="0" noProof="0" dirty="0">
              <a:ln>
                <a:noFill/>
              </a:ln>
              <a:effectLst/>
              <a:uLnTx/>
              <a:uFillTx/>
              <a:latin typeface="Futura PT Medium" panose="020B0602020204020303" charset="-52"/>
              <a:cs typeface="Arial"/>
              <a:sym typeface="Arial"/>
            </a:endParaRPr>
          </a:p>
        </p:txBody>
      </p:sp>
      <p:sp>
        <p:nvSpPr>
          <p:cNvPr id="10" name="Google Shape;60;p15">
            <a:extLst>
              <a:ext uri="{FF2B5EF4-FFF2-40B4-BE49-F238E27FC236}">
                <a16:creationId xmlns:a16="http://schemas.microsoft.com/office/drawing/2014/main" id="{FE370392-E905-1C18-789C-FF94F8DCF134}"/>
              </a:ext>
            </a:extLst>
          </p:cNvPr>
          <p:cNvSpPr txBox="1"/>
          <p:nvPr/>
        </p:nvSpPr>
        <p:spPr>
          <a:xfrm>
            <a:off x="649521" y="5319388"/>
            <a:ext cx="5620649" cy="740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1" tIns="22849" rIns="45711" bIns="22849" anchor="t" anchorCtr="0">
            <a:noAutofit/>
          </a:bodyPr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ru-RU" sz="1799" kern="0" dirty="0">
                <a:solidFill>
                  <a:schemeClr val="tx2"/>
                </a:solidFill>
                <a:latin typeface="Futura PT Medium" panose="020B0602020204020303" pitchFamily="34" charset="-52"/>
                <a:cs typeface="Arial"/>
                <a:sym typeface="Arial"/>
              </a:rPr>
              <a:t>Студент</a:t>
            </a:r>
            <a:r>
              <a:rPr kumimoji="0" lang="ru-RU" sz="1799" b="0" i="0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utura PT Medium" panose="020B0602020204020303" pitchFamily="34" charset="-52"/>
                <a:ea typeface="+mn-ea"/>
                <a:cs typeface="Arial"/>
                <a:sym typeface="Arial"/>
              </a:rPr>
              <a:t>: 					</a:t>
            </a:r>
            <a:r>
              <a:rPr kumimoji="0" lang="ru-RU" sz="1799" u="none" strike="noStrike" kern="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Futura PT Light" panose="020B0402020204020303" pitchFamily="34" charset="-52"/>
                <a:cs typeface="Arial"/>
                <a:sym typeface="Arial"/>
              </a:rPr>
              <a:t>Илья Воропаев</a:t>
            </a:r>
          </a:p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ru-RU" sz="1799" kern="0" dirty="0">
                <a:solidFill>
                  <a:schemeClr val="tx2"/>
                </a:solidFill>
                <a:latin typeface="Futura PT Medium" panose="020B0602020204020303" charset="-52"/>
                <a:cs typeface="Arial"/>
                <a:sym typeface="Arial"/>
              </a:rPr>
              <a:t>Группа</a:t>
            </a:r>
            <a:r>
              <a:rPr lang="en-US" sz="1799" kern="0" dirty="0">
                <a:solidFill>
                  <a:schemeClr val="tx2"/>
                </a:solidFill>
                <a:latin typeface="Futura PT Medium" panose="020B0602020204020303" charset="-52"/>
                <a:cs typeface="Arial"/>
                <a:sym typeface="Arial"/>
              </a:rPr>
              <a:t>:</a:t>
            </a:r>
            <a:r>
              <a:rPr lang="en-US" sz="1799" kern="0" dirty="0">
                <a:solidFill>
                  <a:schemeClr val="tx2"/>
                </a:solidFill>
                <a:latin typeface="Futura PT Light" panose="020B0402020204020303" pitchFamily="34" charset="-52"/>
                <a:cs typeface="Arial"/>
                <a:sym typeface="Arial"/>
              </a:rPr>
              <a:t>					Z4200</a:t>
            </a:r>
          </a:p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ru-RU" sz="1799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Futura PT Light" panose="020B0402020204020303" pitchFamily="34" charset="-52"/>
              <a:cs typeface="Arial"/>
              <a:sym typeface="Arial"/>
            </a:endParaRPr>
          </a:p>
        </p:txBody>
      </p:sp>
      <p:pic>
        <p:nvPicPr>
          <p:cNvPr id="13" name="Google Shape;120;p13">
            <a:extLst>
              <a:ext uri="{FF2B5EF4-FFF2-40B4-BE49-F238E27FC236}">
                <a16:creationId xmlns:a16="http://schemas.microsoft.com/office/drawing/2014/main" id="{3BD61D62-E73F-0BB2-9476-203A2767EE45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385251" y="5338818"/>
            <a:ext cx="1879441" cy="69793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24;p13">
            <a:extLst>
              <a:ext uri="{FF2B5EF4-FFF2-40B4-BE49-F238E27FC236}">
                <a16:creationId xmlns:a16="http://schemas.microsoft.com/office/drawing/2014/main" id="{8F9809B2-0111-DEC2-B1E5-4CDD7FC1EFDF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99242" y="5295832"/>
            <a:ext cx="1879441" cy="74092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60;p15">
            <a:extLst>
              <a:ext uri="{FF2B5EF4-FFF2-40B4-BE49-F238E27FC236}">
                <a16:creationId xmlns:a16="http://schemas.microsoft.com/office/drawing/2014/main" id="{5A3EF9EE-A037-635C-F911-1B2148A0A15A}"/>
              </a:ext>
            </a:extLst>
          </p:cNvPr>
          <p:cNvSpPr txBox="1"/>
          <p:nvPr/>
        </p:nvSpPr>
        <p:spPr>
          <a:xfrm>
            <a:off x="649520" y="3327607"/>
            <a:ext cx="10687174" cy="9924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1" tIns="22849" rIns="45711" bIns="22849" anchor="t" anchorCtr="0">
            <a:noAutofit/>
          </a:bodyPr>
          <a:lstStyle/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ru-RU" b="1" kern="0" dirty="0">
                <a:solidFill>
                  <a:schemeClr val="tx2"/>
                </a:solidFill>
                <a:latin typeface="Futura PT Book" panose="020B0502020204020303" pitchFamily="34" charset="-52"/>
                <a:cs typeface="Arial"/>
                <a:sym typeface="Arial"/>
              </a:rPr>
              <a:t>Подготовлена на основе статьи</a:t>
            </a:r>
            <a:r>
              <a:rPr lang="en-US" b="1" kern="0" dirty="0">
                <a:solidFill>
                  <a:schemeClr val="tx2"/>
                </a:solidFill>
                <a:latin typeface="Futura PT Book" panose="020B0502020204020303" pitchFamily="34" charset="-52"/>
                <a:cs typeface="Arial"/>
                <a:sym typeface="Arial"/>
              </a:rPr>
              <a:t>:</a:t>
            </a:r>
          </a:p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lang="en-US" kern="0" dirty="0">
                <a:solidFill>
                  <a:schemeClr val="tx2"/>
                </a:solidFill>
                <a:latin typeface="Futura PT Book" panose="020B0502020204020303" pitchFamily="34" charset="-52"/>
                <a:cs typeface="Arial"/>
                <a:sym typeface="Arial"/>
              </a:rPr>
              <a:t>Ian F. Akyildiz, et al. (2022)</a:t>
            </a:r>
            <a:br>
              <a:rPr lang="en-US" kern="0" dirty="0">
                <a:solidFill>
                  <a:schemeClr val="tx2"/>
                </a:solidFill>
                <a:latin typeface="Futura PT Book" panose="020B0502020204020303" pitchFamily="34" charset="-52"/>
                <a:cs typeface="Arial"/>
                <a:sym typeface="Arial"/>
              </a:rPr>
            </a:br>
            <a:r>
              <a:rPr lang="en-US" i="1" kern="0" dirty="0">
                <a:solidFill>
                  <a:schemeClr val="tx2"/>
                </a:solidFill>
                <a:latin typeface="Futura PT Book" panose="020B0502020204020303" pitchFamily="34" charset="-52"/>
                <a:cs typeface="Arial"/>
                <a:sym typeface="Arial"/>
              </a:rPr>
              <a:t>Terahertz Band Communication: An Old Problem Revisited and Research Directions for the Next Decade</a:t>
            </a:r>
          </a:p>
          <a:p>
            <a:pPr marL="0" marR="0" lvl="0" indent="0" algn="l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endParaRPr kumimoji="0" lang="ru-RU" u="none" strike="noStrike" kern="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Futura PT Light" panose="020B0402020204020303" pitchFamily="34" charset="-52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41478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DA04E7BB-10AD-4170-BDA2-50349599FBC4}"/>
              </a:ext>
            </a:extLst>
          </p:cNvPr>
          <p:cNvSpPr/>
          <p:nvPr/>
        </p:nvSpPr>
        <p:spPr>
          <a:xfrm>
            <a:off x="207568" y="652745"/>
            <a:ext cx="5204056" cy="186768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999E1F-BE64-EA87-4302-BD49D0F26630}"/>
              </a:ext>
            </a:extLst>
          </p:cNvPr>
          <p:cNvSpPr txBox="1"/>
          <p:nvPr/>
        </p:nvSpPr>
        <p:spPr>
          <a:xfrm>
            <a:off x="207568" y="798200"/>
            <a:ext cx="5196673" cy="15767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Futura PT Medium" panose="020B0602020204020303" charset="-52"/>
              </a:rPr>
              <a:t>Новые сценарии для сетей 6</a:t>
            </a:r>
            <a:r>
              <a:rPr lang="en-US" dirty="0">
                <a:solidFill>
                  <a:prstClr val="black"/>
                </a:solidFill>
                <a:latin typeface="Futura PT Medium" panose="020B0602020204020303" charset="-52"/>
              </a:rPr>
              <a:t>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: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  <a:p>
            <a:pPr marL="342900" marR="0" lvl="0" indent="-34290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Связь с 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“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ультранизкими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”</a:t>
            </a: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 задержками</a:t>
            </a:r>
          </a:p>
          <a:p>
            <a:pPr marL="342900" marR="0" lvl="0" indent="-34290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ru-RU" dirty="0">
                <a:solidFill>
                  <a:prstClr val="black"/>
                </a:solidFill>
                <a:latin typeface="Futura PT Light" panose="020B0402020204020303" pitchFamily="34" charset="-52"/>
              </a:rPr>
              <a:t>Иммерсивная связь</a:t>
            </a:r>
          </a:p>
          <a:p>
            <a:pPr marL="342900" marR="0" lvl="0" indent="-34290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Интеграция интернета вещей и сетей связи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E6B933D1-28D4-D059-F1CD-AC19DF8A1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2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6E321003-1866-F9A6-2DB3-233206A94598}"/>
              </a:ext>
            </a:extLst>
          </p:cNvPr>
          <p:cNvSpPr/>
          <p:nvPr/>
        </p:nvSpPr>
        <p:spPr>
          <a:xfrm>
            <a:off x="6061819" y="680666"/>
            <a:ext cx="5204056" cy="44065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6BF0D8-B3E6-CD14-42DD-B560C47D8233}"/>
                  </a:ext>
                </a:extLst>
              </p:cNvPr>
              <p:cNvSpPr txBox="1"/>
              <p:nvPr/>
            </p:nvSpPr>
            <p:spPr>
              <a:xfrm>
                <a:off x="6044100" y="1084769"/>
                <a:ext cx="5227045" cy="39241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В таких сложных сценариях возрастает требования по пропускной способности системы вплоть до </a:t>
                </a:r>
                <a:r>
                  <a:rPr lang="en-US" sz="1600" dirty="0">
                    <a:latin typeface="Futura PT Light" panose="020B0402020204020303" pitchFamily="34" charset="-52"/>
                  </a:rPr>
                  <a:t>1 </a:t>
                </a:r>
                <a:r>
                  <a:rPr lang="ru-RU" sz="1600" dirty="0">
                    <a:latin typeface="Futura PT Light" panose="020B0402020204020303" pitchFamily="34" charset="-52"/>
                  </a:rPr>
                  <a:t>Тб</a:t>
                </a:r>
                <a:r>
                  <a:rPr lang="en-US" sz="1600" dirty="0">
                    <a:latin typeface="Futura PT Light" panose="020B0402020204020303" pitchFamily="34" charset="-52"/>
                  </a:rPr>
                  <a:t>/</a:t>
                </a:r>
                <a:r>
                  <a:rPr lang="ru-RU" sz="1600" dirty="0">
                    <a:latin typeface="Futura PT Light" panose="020B0402020204020303" pitchFamily="34" charset="-52"/>
                  </a:rPr>
                  <a:t>с.</a:t>
                </a: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Пропуская способность системы может быть оценена по формуле Шеннона</a:t>
                </a:r>
                <a:r>
                  <a:rPr lang="en-US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:</a:t>
                </a: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𝐶</m:t>
                      </m:r>
                      <m:r>
                        <a:rPr lang="en-US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𝑊</m:t>
                      </m:r>
                      <m:r>
                        <a:rPr lang="en-US" sz="1400" b="0" i="1" smtClean="0">
                          <a:solidFill>
                            <a:prstClr val="black"/>
                          </a:solidFill>
                          <a:latin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en-US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sz="1400" b="0" i="0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prstClr val="black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fName>
                        <m:e>
                          <m:r>
                            <a:rPr lang="en-US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(1+</m:t>
                          </m:r>
                          <m:r>
                            <a:rPr lang="en-US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𝑆𝑁𝑅</m:t>
                          </m:r>
                          <m:r>
                            <a:rPr lang="en-US" sz="1400" b="0" i="1" smtClean="0">
                              <a:solidFill>
                                <a:prstClr val="black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func>
                    </m:oMath>
                  </m:oMathPara>
                </a14:m>
                <a:endParaRPr lang="en-US" sz="1400" dirty="0">
                  <a:solidFill>
                    <a:prstClr val="black"/>
                  </a:solidFill>
                  <a:latin typeface="Futura PT Light" panose="020B0402020204020303" pitchFamily="34" charset="-52"/>
                </a:endParaRP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Можно повышать мощность передатчиков (выше </a:t>
                </a:r>
                <a:r>
                  <a:rPr lang="en-US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SNR</a:t>
                </a: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), а можно расширять полосу сигнала </a:t>
                </a:r>
                <a14:m>
                  <m:oMath xmlns:m="http://schemas.openxmlformats.org/officeDocument/2006/math">
                    <m:r>
                      <a:rPr lang="en-US" sz="1600" b="0" i="1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.</a:t>
                </a: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Для обеспечения передачи данных со скоростью </a:t>
                </a:r>
                <a:r>
                  <a:rPr lang="en-US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1 </a:t>
                </a: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Тб/с, необходимы полосы шириной единицы/десятки ГГц.</a:t>
                </a: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Таких широких полос нет в ГГц диапазоне, используемом в 5</a:t>
                </a:r>
                <a:r>
                  <a:rPr lang="en-US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G </a:t>
                </a:r>
                <a:r>
                  <a:rPr lang="ru-RU" sz="1600" dirty="0">
                    <a:solidFill>
                      <a:prstClr val="black"/>
                    </a:solidFill>
                    <a:latin typeface="Futura PT Light" panose="020B0402020204020303" pitchFamily="34" charset="-52"/>
                  </a:rPr>
                  <a:t>системах</a:t>
                </a: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86BF0D8-B3E6-CD14-42DD-B560C47D823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4100" y="1084769"/>
                <a:ext cx="5227045" cy="3924151"/>
              </a:xfrm>
              <a:prstGeom prst="rect">
                <a:avLst/>
              </a:prstGeom>
              <a:blipFill>
                <a:blip r:embed="rId2"/>
                <a:stretch>
                  <a:fillRect l="-583" t="-311" b="-108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9F0B440B-FD20-CE57-0E47-02462FDE4C27}"/>
              </a:ext>
            </a:extLst>
          </p:cNvPr>
          <p:cNvSpPr/>
          <p:nvPr/>
        </p:nvSpPr>
        <p:spPr>
          <a:xfrm>
            <a:off x="6051483" y="652745"/>
            <a:ext cx="5212096" cy="424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2E2D98-C170-7777-DE0C-3DAD56E09090}"/>
              </a:ext>
            </a:extLst>
          </p:cNvPr>
          <p:cNvSpPr txBox="1"/>
          <p:nvPr/>
        </p:nvSpPr>
        <p:spPr>
          <a:xfrm>
            <a:off x="6047414" y="672666"/>
            <a:ext cx="521209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bg1"/>
                </a:solidFill>
                <a:latin typeface="Futura PT Medium" panose="020B0602020204020303" pitchFamily="34" charset="-52"/>
              </a:rPr>
              <a:t>Почему нужен ТГц диапазон?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86F5910-0F8F-395F-0FA4-8CF70139A058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Требования сетей 6-го поколения</a:t>
            </a:r>
          </a:p>
        </p:txBody>
      </p:sp>
      <p:pic>
        <p:nvPicPr>
          <p:cNvPr id="13" name="Рисунок 12" descr="Изображение выглядит как одежда, человек, стена, в помещении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674368D-E905-EF12-B2A2-76A0257D9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9474" y="2773912"/>
            <a:ext cx="2174767" cy="1709111"/>
          </a:xfrm>
          <a:prstGeom prst="rect">
            <a:avLst/>
          </a:prstGeom>
        </p:spPr>
      </p:pic>
      <p:pic>
        <p:nvPicPr>
          <p:cNvPr id="1026" name="Picture 2" descr="My view on massive machine-type communications - Giuseppe Durisi">
            <a:extLst>
              <a:ext uri="{FF2B5EF4-FFF2-40B4-BE49-F238E27FC236}">
                <a16:creationId xmlns:a16="http://schemas.microsoft.com/office/drawing/2014/main" id="{A62E6A19-BFF9-4D99-8AC5-50143422F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108" y="4624986"/>
            <a:ext cx="2911796" cy="1959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Vehicle to Vehicle (V2V) Connectivity">
            <a:extLst>
              <a:ext uri="{FF2B5EF4-FFF2-40B4-BE49-F238E27FC236}">
                <a16:creationId xmlns:a16="http://schemas.microsoft.com/office/drawing/2014/main" id="{7905DF2A-7ECE-B0AA-ED19-791D5E536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7568" y="2799022"/>
            <a:ext cx="2724150" cy="1676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C90C932-B7CA-FBA4-236A-9E26C91BC3AA}"/>
              </a:ext>
            </a:extLst>
          </p:cNvPr>
          <p:cNvSpPr txBox="1"/>
          <p:nvPr/>
        </p:nvSpPr>
        <p:spPr>
          <a:xfrm>
            <a:off x="3220057" y="2751233"/>
            <a:ext cx="30809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31A47A0-A9B5-B54B-47DC-E7A611048CFE}"/>
              </a:ext>
            </a:extLst>
          </p:cNvPr>
          <p:cNvSpPr txBox="1"/>
          <p:nvPr/>
        </p:nvSpPr>
        <p:spPr>
          <a:xfrm>
            <a:off x="210663" y="2798447"/>
            <a:ext cx="30809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5377494-8B1E-66CB-F1B6-849D167675D0}"/>
              </a:ext>
            </a:extLst>
          </p:cNvPr>
          <p:cNvSpPr txBox="1"/>
          <p:nvPr/>
        </p:nvSpPr>
        <p:spPr>
          <a:xfrm>
            <a:off x="1208107" y="4660200"/>
            <a:ext cx="308098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rgbClr val="FF0000"/>
                </a:solidFill>
              </a:rPr>
              <a:t>3</a:t>
            </a:r>
          </a:p>
        </p:txBody>
      </p:sp>
      <p:pic>
        <p:nvPicPr>
          <p:cNvPr id="18" name="Рисунок 17" descr="Изображение выглядит как текст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C9240D6C-7C33-125A-C759-FE1ACCAD4A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47414" y="5152743"/>
            <a:ext cx="5227045" cy="924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3240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7D1F-D404-B4D6-2D18-7D5A27C02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9EDE7A0C-E52C-B4CA-9823-1936C9403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3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4B6EE0B-BD82-4668-4F66-626A7CDDCB7D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Выбранный диапазон частот</a:t>
            </a:r>
            <a:r>
              <a:rPr lang="en-US" sz="3200" dirty="0">
                <a:latin typeface="Futura PT Book" panose="020B0502020204020303" pitchFamily="34" charset="-52"/>
              </a:rPr>
              <a:t> </a:t>
            </a:r>
            <a:r>
              <a:rPr lang="ru-RU" sz="3200" dirty="0">
                <a:latin typeface="Futura PT Book" panose="020B0502020204020303" pitchFamily="34" charset="-52"/>
              </a:rPr>
              <a:t>для систем связи 6</a:t>
            </a:r>
            <a:r>
              <a:rPr lang="en-US" sz="3200" dirty="0">
                <a:latin typeface="Futura PT Book" panose="020B0502020204020303" pitchFamily="34" charset="-52"/>
              </a:rPr>
              <a:t>G</a:t>
            </a:r>
            <a:endParaRPr lang="ru-RU" sz="3200" dirty="0">
              <a:latin typeface="Futura PT Book" panose="020B0502020204020303" pitchFamily="34" charset="-52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EFE1A7B-6DE5-8E0F-2F45-DEB4D2B45AC4}"/>
              </a:ext>
            </a:extLst>
          </p:cNvPr>
          <p:cNvSpPr/>
          <p:nvPr/>
        </p:nvSpPr>
        <p:spPr>
          <a:xfrm>
            <a:off x="1313340" y="2435290"/>
            <a:ext cx="3181739" cy="9937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Изначальная мечта</a:t>
            </a:r>
            <a:r>
              <a:rPr lang="en-US" dirty="0"/>
              <a:t>:</a:t>
            </a:r>
            <a:br>
              <a:rPr lang="en-US" dirty="0"/>
            </a:br>
            <a:r>
              <a:rPr lang="en-US" b="1" dirty="0"/>
              <a:t>0.3 – 1 </a:t>
            </a:r>
            <a:r>
              <a:rPr lang="ru-RU" b="1" dirty="0"/>
              <a:t>ТГц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50892808-BFAD-8951-AA0E-4404E2F551CF}"/>
              </a:ext>
            </a:extLst>
          </p:cNvPr>
          <p:cNvSpPr/>
          <p:nvPr/>
        </p:nvSpPr>
        <p:spPr>
          <a:xfrm>
            <a:off x="1313339" y="3742478"/>
            <a:ext cx="3181739" cy="9937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Переосмысленная мечта</a:t>
            </a:r>
            <a:r>
              <a:rPr lang="en-US" dirty="0"/>
              <a:t>:</a:t>
            </a:r>
            <a:br>
              <a:rPr lang="en-US" dirty="0"/>
            </a:br>
            <a:r>
              <a:rPr lang="ru-RU" b="1" dirty="0"/>
              <a:t>70</a:t>
            </a:r>
            <a:r>
              <a:rPr lang="en-US" b="1" dirty="0"/>
              <a:t> – 1</a:t>
            </a:r>
            <a:r>
              <a:rPr lang="ru-RU" b="1" dirty="0"/>
              <a:t>70</a:t>
            </a:r>
            <a:r>
              <a:rPr lang="en-US" b="1" dirty="0"/>
              <a:t> </a:t>
            </a:r>
            <a:r>
              <a:rPr lang="ru-RU" b="1" dirty="0"/>
              <a:t>ГГц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0C169044-E9A3-A405-0F28-A4E60A0C761D}"/>
              </a:ext>
            </a:extLst>
          </p:cNvPr>
          <p:cNvSpPr/>
          <p:nvPr/>
        </p:nvSpPr>
        <p:spPr>
          <a:xfrm>
            <a:off x="1313339" y="5049666"/>
            <a:ext cx="3181739" cy="99371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Основной фокус на текущий момент (не ТГц)</a:t>
            </a:r>
            <a:r>
              <a:rPr lang="en-US" dirty="0"/>
              <a:t>:</a:t>
            </a:r>
            <a:br>
              <a:rPr lang="en-US" dirty="0"/>
            </a:br>
            <a:r>
              <a:rPr lang="ru-RU" b="1" dirty="0"/>
              <a:t>7</a:t>
            </a:r>
            <a:r>
              <a:rPr lang="en-US" b="1" dirty="0"/>
              <a:t> – </a:t>
            </a:r>
            <a:r>
              <a:rPr lang="ru-RU" b="1" dirty="0"/>
              <a:t>24</a:t>
            </a:r>
            <a:r>
              <a:rPr lang="en-US" b="1" dirty="0"/>
              <a:t> </a:t>
            </a:r>
            <a:r>
              <a:rPr lang="ru-RU" b="1" dirty="0"/>
              <a:t>ГГц </a:t>
            </a:r>
            <a:r>
              <a:rPr lang="ru-RU" dirty="0"/>
              <a:t>(</a:t>
            </a:r>
            <a:r>
              <a:rPr lang="en-US" dirty="0"/>
              <a:t>FR3</a:t>
            </a:r>
            <a:r>
              <a:rPr lang="ru-RU" dirty="0"/>
              <a:t>)</a:t>
            </a:r>
          </a:p>
        </p:txBody>
      </p:sp>
      <p:sp>
        <p:nvSpPr>
          <p:cNvPr id="8" name="Стрелка: вниз 7">
            <a:extLst>
              <a:ext uri="{FF2B5EF4-FFF2-40B4-BE49-F238E27FC236}">
                <a16:creationId xmlns:a16="http://schemas.microsoft.com/office/drawing/2014/main" id="{9E235AC4-881D-6C81-F40A-98FD0BC154A2}"/>
              </a:ext>
            </a:extLst>
          </p:cNvPr>
          <p:cNvSpPr/>
          <p:nvPr/>
        </p:nvSpPr>
        <p:spPr>
          <a:xfrm>
            <a:off x="647731" y="3742478"/>
            <a:ext cx="406617" cy="993710"/>
          </a:xfrm>
          <a:prstGeom prst="downArrow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7B263E5-3EBF-7AD1-8206-5D76300FD374}"/>
              </a:ext>
            </a:extLst>
          </p:cNvPr>
          <p:cNvSpPr txBox="1"/>
          <p:nvPr/>
        </p:nvSpPr>
        <p:spPr>
          <a:xfrm rot="16200000">
            <a:off x="493203" y="2747478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2021</a:t>
            </a: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645D002-3B82-8F2D-674A-A093D8315AB4}"/>
              </a:ext>
            </a:extLst>
          </p:cNvPr>
          <p:cNvSpPr txBox="1"/>
          <p:nvPr/>
        </p:nvSpPr>
        <p:spPr>
          <a:xfrm rot="16200000">
            <a:off x="493202" y="5395475"/>
            <a:ext cx="6783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2025</a:t>
            </a:r>
            <a:endParaRPr lang="ru-RU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F932B425-84E5-9F79-00B6-6FE368A7B949}"/>
              </a:ext>
            </a:extLst>
          </p:cNvPr>
          <p:cNvSpPr/>
          <p:nvPr/>
        </p:nvSpPr>
        <p:spPr>
          <a:xfrm>
            <a:off x="489954" y="1077341"/>
            <a:ext cx="4457589" cy="746847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D434BA5-1711-0464-46E8-A7A10F5E06FD}"/>
              </a:ext>
            </a:extLst>
          </p:cNvPr>
          <p:cNvSpPr txBox="1"/>
          <p:nvPr/>
        </p:nvSpPr>
        <p:spPr>
          <a:xfrm>
            <a:off x="489570" y="1222796"/>
            <a:ext cx="4451265" cy="4964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Futura PT Medium" panose="020B0602020204020303" charset="-52"/>
              </a:rPr>
              <a:t>Эволюция целевого частотного диапазона для систем </a:t>
            </a:r>
            <a:r>
              <a:rPr lang="en-US" dirty="0">
                <a:solidFill>
                  <a:prstClr val="black"/>
                </a:solidFill>
                <a:latin typeface="Futura PT Medium" panose="020B0602020204020303" charset="-52"/>
              </a:rPr>
              <a:t>6G</a:t>
            </a: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: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9B88CA8-724A-E79B-2936-D2E2A9A71E99}"/>
              </a:ext>
            </a:extLst>
          </p:cNvPr>
          <p:cNvSpPr/>
          <p:nvPr/>
        </p:nvSpPr>
        <p:spPr>
          <a:xfrm>
            <a:off x="1174513" y="3676260"/>
            <a:ext cx="3459390" cy="126753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DFCCEF08-315C-9BBB-0C60-FBC2D5199A95}"/>
              </a:ext>
            </a:extLst>
          </p:cNvPr>
          <p:cNvCxnSpPr>
            <a:cxnSpLocks/>
          </p:cNvCxnSpPr>
          <p:nvPr/>
        </p:nvCxnSpPr>
        <p:spPr>
          <a:xfrm>
            <a:off x="5123589" y="638588"/>
            <a:ext cx="18659" cy="6207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A76EAB19-EC0C-0412-9699-00F97CBAE094}"/>
              </a:ext>
            </a:extLst>
          </p:cNvPr>
          <p:cNvSpPr/>
          <p:nvPr/>
        </p:nvSpPr>
        <p:spPr>
          <a:xfrm>
            <a:off x="5974906" y="4164545"/>
            <a:ext cx="5240785" cy="1928447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DA31B7D-055D-E88C-812C-4641EE496E42}"/>
              </a:ext>
            </a:extLst>
          </p:cNvPr>
          <p:cNvSpPr txBox="1"/>
          <p:nvPr/>
        </p:nvSpPr>
        <p:spPr>
          <a:xfrm>
            <a:off x="5977349" y="4673185"/>
            <a:ext cx="5240785" cy="12579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Для связи внутри помещений. Основными поддиапазонами выбраны</a:t>
            </a:r>
            <a:r>
              <a:rPr lang="en-US" sz="1600" dirty="0">
                <a:latin typeface="Futura PT Light" panose="020B0402020204020303" pitchFamily="34" charset="-52"/>
              </a:rPr>
              <a:t>:</a:t>
            </a:r>
          </a:p>
          <a:p>
            <a:pPr marL="285750" marR="0" lvl="0" indent="-28575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Futura PT Light" panose="020B0402020204020303" pitchFamily="34" charset="-52"/>
              </a:rPr>
              <a:t>W-</a:t>
            </a:r>
            <a:r>
              <a:rPr lang="ru-RU" sz="1600" dirty="0">
                <a:solidFill>
                  <a:prstClr val="black"/>
                </a:solidFill>
                <a:latin typeface="Futura PT Light" panose="020B0402020204020303" pitchFamily="34" charset="-52"/>
              </a:rPr>
              <a:t>диапазон</a:t>
            </a:r>
            <a:r>
              <a:rPr lang="en-US" sz="1600" dirty="0">
                <a:solidFill>
                  <a:prstClr val="black"/>
                </a:solidFill>
                <a:latin typeface="Futura PT Light" panose="020B0402020204020303" pitchFamily="34" charset="-52"/>
              </a:rPr>
              <a:t>: </a:t>
            </a:r>
            <a:r>
              <a:rPr lang="en-US" sz="1600" dirty="0">
                <a:solidFill>
                  <a:prstClr val="black"/>
                </a:solidFill>
                <a:latin typeface="Futura PT Medium" panose="020B0602020204020303" pitchFamily="34" charset="-52"/>
              </a:rPr>
              <a:t>75-110 </a:t>
            </a:r>
            <a:r>
              <a:rPr lang="ru-RU" sz="1600" dirty="0">
                <a:solidFill>
                  <a:prstClr val="black"/>
                </a:solidFill>
                <a:latin typeface="Futura PT Medium" panose="020B0602020204020303" pitchFamily="34" charset="-52"/>
              </a:rPr>
              <a:t>ГГц</a:t>
            </a:r>
            <a:endParaRPr lang="en-US" sz="1600" dirty="0">
              <a:solidFill>
                <a:prstClr val="black"/>
              </a:solidFill>
              <a:latin typeface="Futura PT Medium" panose="020B0602020204020303" pitchFamily="34" charset="-52"/>
            </a:endParaRPr>
          </a:p>
          <a:p>
            <a:pPr marL="285750" marR="0" lvl="0" indent="-28575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solidFill>
                  <a:prstClr val="black"/>
                </a:solidFill>
                <a:latin typeface="Futura PT Light" panose="020B0402020204020303" pitchFamily="34" charset="-52"/>
              </a:rPr>
              <a:t>D-</a:t>
            </a:r>
            <a:r>
              <a:rPr lang="ru-RU" sz="1600" dirty="0">
                <a:solidFill>
                  <a:prstClr val="black"/>
                </a:solidFill>
                <a:latin typeface="Futura PT Light" panose="020B0402020204020303" pitchFamily="34" charset="-52"/>
              </a:rPr>
              <a:t>диапазон</a:t>
            </a:r>
            <a:r>
              <a:rPr lang="en-US" sz="1600" dirty="0">
                <a:solidFill>
                  <a:prstClr val="black"/>
                </a:solidFill>
                <a:latin typeface="Futura PT Light" panose="020B0402020204020303" pitchFamily="34" charset="-52"/>
              </a:rPr>
              <a:t>: </a:t>
            </a:r>
            <a:r>
              <a:rPr lang="en-US" sz="1600" dirty="0">
                <a:solidFill>
                  <a:prstClr val="black"/>
                </a:solidFill>
                <a:latin typeface="Futura PT Medium" panose="020B0602020204020303" pitchFamily="34" charset="-52"/>
              </a:rPr>
              <a:t>110-170 </a:t>
            </a:r>
            <a:r>
              <a:rPr lang="ru-RU" sz="1600" dirty="0">
                <a:solidFill>
                  <a:prstClr val="black"/>
                </a:solidFill>
                <a:latin typeface="Futura PT Medium" panose="020B0602020204020303" pitchFamily="34" charset="-52"/>
              </a:rPr>
              <a:t>ГГц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0B8B584F-08F5-08C9-BF10-DA3876E2F494}"/>
              </a:ext>
            </a:extLst>
          </p:cNvPr>
          <p:cNvSpPr/>
          <p:nvPr/>
        </p:nvSpPr>
        <p:spPr>
          <a:xfrm>
            <a:off x="5964514" y="4136624"/>
            <a:ext cx="5248881" cy="424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0B7209F-F635-A734-DE3F-EB2A2976CFA9}"/>
              </a:ext>
            </a:extLst>
          </p:cNvPr>
          <p:cNvSpPr txBox="1"/>
          <p:nvPr/>
        </p:nvSpPr>
        <p:spPr>
          <a:xfrm>
            <a:off x="5960445" y="4156545"/>
            <a:ext cx="52488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Нижняя граница ТГц диапазона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95804987-B4FE-14DD-1DCD-46D55C812188}"/>
              </a:ext>
            </a:extLst>
          </p:cNvPr>
          <p:cNvCxnSpPr>
            <a:cxnSpLocks/>
            <a:stCxn id="14" idx="3"/>
            <a:endCxn id="16" idx="1"/>
          </p:cNvCxnSpPr>
          <p:nvPr/>
        </p:nvCxnSpPr>
        <p:spPr>
          <a:xfrm>
            <a:off x="4633903" y="4310027"/>
            <a:ext cx="1341003" cy="8187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82B98F9-3923-7408-FD10-43BD661C1412}"/>
              </a:ext>
            </a:extLst>
          </p:cNvPr>
          <p:cNvSpPr/>
          <p:nvPr/>
        </p:nvSpPr>
        <p:spPr>
          <a:xfrm>
            <a:off x="5972080" y="660746"/>
            <a:ext cx="5240785" cy="123510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D03E142-2EB6-C60F-5DDF-F2C9C2AF5F0D}"/>
              </a:ext>
            </a:extLst>
          </p:cNvPr>
          <p:cNvSpPr txBox="1"/>
          <p:nvPr/>
        </p:nvSpPr>
        <p:spPr>
          <a:xfrm>
            <a:off x="5977350" y="1064848"/>
            <a:ext cx="524078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Для связи на короткие расстояния </a:t>
            </a:r>
            <a:r>
              <a:rPr lang="en-US" sz="1600" dirty="0">
                <a:latin typeface="Futura PT Light" panose="020B0402020204020303" pitchFamily="34" charset="-52"/>
              </a:rPr>
              <a:t>(</a:t>
            </a:r>
            <a:r>
              <a:rPr lang="ru-RU" sz="1600" dirty="0">
                <a:latin typeface="Futura PT Light" panose="020B0402020204020303" pitchFamily="34" charset="-52"/>
              </a:rPr>
              <a:t>или даже ультракороткие</a:t>
            </a:r>
            <a:r>
              <a:rPr lang="en-US" sz="1600" dirty="0">
                <a:latin typeface="Futura PT Light" panose="020B0402020204020303" pitchFamily="34" charset="-52"/>
              </a:rPr>
              <a:t>)</a:t>
            </a:r>
            <a:r>
              <a:rPr lang="ru-RU" sz="1600" dirty="0">
                <a:latin typeface="Futura PT Light" panose="020B0402020204020303" pitchFamily="34" charset="-52"/>
              </a:rPr>
              <a:t>. Например – беспроводная сеть на кристалле, заменяющие передачу сигналов по проводной шине в устройстве. 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0DBD0979-6F3B-B15D-3A8C-3BAD4AB816FE}"/>
              </a:ext>
            </a:extLst>
          </p:cNvPr>
          <p:cNvSpPr/>
          <p:nvPr/>
        </p:nvSpPr>
        <p:spPr>
          <a:xfrm>
            <a:off x="5961688" y="632824"/>
            <a:ext cx="5248881" cy="424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7236C5CE-B34E-74DB-78FE-D7FA50D35A89}"/>
              </a:ext>
            </a:extLst>
          </p:cNvPr>
          <p:cNvSpPr txBox="1"/>
          <p:nvPr/>
        </p:nvSpPr>
        <p:spPr>
          <a:xfrm>
            <a:off x="5957619" y="652745"/>
            <a:ext cx="52488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bg1"/>
                </a:solidFill>
                <a:latin typeface="Futura PT Medium" panose="020B0602020204020303" pitchFamily="34" charset="-52"/>
              </a:rPr>
              <a:t>От ТГц диапазона не отказались все равно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pic>
        <p:nvPicPr>
          <p:cNvPr id="38" name="Рисунок 37" descr="Изображение выглядит как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813979B-39A8-028C-F016-28D1169FF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7019" y="1951829"/>
            <a:ext cx="2887804" cy="1921873"/>
          </a:xfrm>
          <a:prstGeom prst="rect">
            <a:avLst/>
          </a:prstGeom>
        </p:spPr>
      </p:pic>
      <p:pic>
        <p:nvPicPr>
          <p:cNvPr id="41" name="Рисунок 40" descr="Изображение выглядит как текст, снимок экрана, стол, мебель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DBE8D28-C011-EC6B-0A7D-E8209E9B03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4988" y="1943949"/>
            <a:ext cx="3480212" cy="1928447"/>
          </a:xfrm>
          <a:prstGeom prst="rect">
            <a:avLst/>
          </a:prstGeom>
        </p:spPr>
      </p:pic>
      <p:sp>
        <p:nvSpPr>
          <p:cNvPr id="43" name="Прямоугольник 42">
            <a:extLst>
              <a:ext uri="{FF2B5EF4-FFF2-40B4-BE49-F238E27FC236}">
                <a16:creationId xmlns:a16="http://schemas.microsoft.com/office/drawing/2014/main" id="{69514836-360C-BF38-8EE2-F5100B866747}"/>
              </a:ext>
            </a:extLst>
          </p:cNvPr>
          <p:cNvSpPr/>
          <p:nvPr/>
        </p:nvSpPr>
        <p:spPr>
          <a:xfrm>
            <a:off x="1174275" y="2323597"/>
            <a:ext cx="3459390" cy="1267533"/>
          </a:xfrm>
          <a:prstGeom prst="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ACEFDBE9-D538-BFE2-72D8-77DCD5B85E5F}"/>
              </a:ext>
            </a:extLst>
          </p:cNvPr>
          <p:cNvCxnSpPr>
            <a:cxnSpLocks/>
            <a:stCxn id="43" idx="3"/>
            <a:endCxn id="32" idx="1"/>
          </p:cNvCxnSpPr>
          <p:nvPr/>
        </p:nvCxnSpPr>
        <p:spPr>
          <a:xfrm flipV="1">
            <a:off x="4633665" y="1480347"/>
            <a:ext cx="1343685" cy="1477017"/>
          </a:xfrm>
          <a:prstGeom prst="straightConnector1">
            <a:avLst/>
          </a:prstGeom>
          <a:ln>
            <a:solidFill>
              <a:schemeClr val="tx2">
                <a:lumMod val="50000"/>
                <a:lumOff val="50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993053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B69E92-E0F5-DAE7-47CB-575A2FDE1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96288E35-7E58-2490-49CA-322AF3C6C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4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D78DCF3-69AB-1318-E9E1-A666364CF00B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Потери на распространение в ТГц диапазоне</a:t>
            </a:r>
          </a:p>
        </p:txBody>
      </p:sp>
      <p:cxnSp>
        <p:nvCxnSpPr>
          <p:cNvPr id="4" name="Прямая соединительная линия 3">
            <a:extLst>
              <a:ext uri="{FF2B5EF4-FFF2-40B4-BE49-F238E27FC236}">
                <a16:creationId xmlns:a16="http://schemas.microsoft.com/office/drawing/2014/main" id="{BD77455B-C2B2-C24B-84EA-77C357ED12B3}"/>
              </a:ext>
            </a:extLst>
          </p:cNvPr>
          <p:cNvCxnSpPr>
            <a:cxnSpLocks/>
          </p:cNvCxnSpPr>
          <p:nvPr/>
        </p:nvCxnSpPr>
        <p:spPr>
          <a:xfrm flipH="1">
            <a:off x="0" y="3582950"/>
            <a:ext cx="121920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4EA8E021-841D-158B-A9BE-782B5D03C1AF}"/>
              </a:ext>
            </a:extLst>
          </p:cNvPr>
          <p:cNvSpPr/>
          <p:nvPr/>
        </p:nvSpPr>
        <p:spPr>
          <a:xfrm>
            <a:off x="7865705" y="3742434"/>
            <a:ext cx="4163778" cy="261629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6DD031-B96C-70BE-5AF5-C8BE7AEC322D}"/>
                  </a:ext>
                </a:extLst>
              </p:cNvPr>
              <p:cNvSpPr txBox="1"/>
              <p:nvPr/>
            </p:nvSpPr>
            <p:spPr>
              <a:xfrm>
                <a:off x="7878947" y="4297781"/>
                <a:ext cx="4158339" cy="195560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Определяются Формулой </a:t>
                </a:r>
                <a:r>
                  <a:rPr lang="ru-RU" sz="1600" dirty="0" err="1">
                    <a:latin typeface="Futura PT Light" panose="020B0402020204020303" pitchFamily="34" charset="-52"/>
                  </a:rPr>
                  <a:t>Фрииса</a:t>
                </a:r>
                <a:r>
                  <a:rPr lang="en-US" sz="1600" dirty="0">
                    <a:latin typeface="Futura PT Light" panose="020B0402020204020303" pitchFamily="34" charset="-52"/>
                  </a:rPr>
                  <a:t>:</a:t>
                </a:r>
                <a:br>
                  <a:rPr lang="ru-RU" sz="1600" dirty="0">
                    <a:latin typeface="Futura PT Light" panose="020B0402020204020303" pitchFamily="34" charset="-52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ru-RU" sz="12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ru-RU" sz="12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ru-RU" sz="12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sub>
                          </m:sSub>
                          <m:sSub>
                            <m:sSub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  <m:sSup>
                            <m:sSup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m:rPr>
                                  <m:sty m:val="p"/>
                                </m:rPr>
                                <a:rPr lang="en-US" sz="1200">
                                  <a:latin typeface="Cambria Math" panose="02040503050406030204" pitchFamily="18" charset="0"/>
                                </a:rPr>
                                <m:t>λ</m:t>
                              </m:r>
                            </m:e>
                            <m:sup>
                              <m:r>
                                <a:rPr lang="ru-RU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ru-RU" sz="120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ru-RU" sz="12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ru-RU" sz="1200" i="1"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  <m:r>
                                    <m:rPr>
                                      <m:sty m:val="p"/>
                                    </m:rPr>
                                    <a:rPr lang="en-US" sz="1200"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  <m:r>
                                    <a:rPr lang="en-US" sz="1200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</m:d>
                            </m:e>
                            <m:sup>
                              <m:r>
                                <a:rPr lang="ru-RU" sz="12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ru-RU" dirty="0"/>
              </a:p>
              <a:p>
                <a:pPr defTabSz="914172">
                  <a:spcAft>
                    <a:spcPts val="1800"/>
                  </a:spcAft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Потери придется компенсировать за счет использования антенн с высоким КУ или средствами радиопланирования (использование маленьких сот).</a:t>
                </a:r>
                <a:endParaRPr lang="en-US" sz="1600" dirty="0">
                  <a:latin typeface="Futura PT Light" panose="020B0402020204020303" pitchFamily="34" charset="-52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A16DD031-B96C-70BE-5AF5-C8BE7AEC3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8947" y="4297781"/>
                <a:ext cx="4158339" cy="1955600"/>
              </a:xfrm>
              <a:prstGeom prst="rect">
                <a:avLst/>
              </a:prstGeom>
              <a:blipFill>
                <a:blip r:embed="rId2"/>
                <a:stretch>
                  <a:fillRect l="-732" t="-623" r="-1171" b="-311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8533500F-8459-900F-390B-68E678B4E474}"/>
              </a:ext>
            </a:extLst>
          </p:cNvPr>
          <p:cNvSpPr/>
          <p:nvPr/>
        </p:nvSpPr>
        <p:spPr>
          <a:xfrm>
            <a:off x="7857902" y="3714513"/>
            <a:ext cx="4170211" cy="5752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BAA817A-3A53-76A6-4795-A514B617A435}"/>
              </a:ext>
            </a:extLst>
          </p:cNvPr>
          <p:cNvSpPr txBox="1"/>
          <p:nvPr/>
        </p:nvSpPr>
        <p:spPr>
          <a:xfrm>
            <a:off x="7853833" y="3734434"/>
            <a:ext cx="41702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Потери в свободном пространстве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83866937-C471-E303-6DB9-07BC1EC670B2}"/>
              </a:ext>
            </a:extLst>
          </p:cNvPr>
          <p:cNvSpPr/>
          <p:nvPr/>
        </p:nvSpPr>
        <p:spPr>
          <a:xfrm>
            <a:off x="185726" y="640487"/>
            <a:ext cx="5240785" cy="2788513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821539-22B8-F2A2-FEC6-0F5C6870DB34}"/>
                  </a:ext>
                </a:extLst>
              </p:cNvPr>
              <p:cNvSpPr txBox="1"/>
              <p:nvPr/>
            </p:nvSpPr>
            <p:spPr>
              <a:xfrm>
                <a:off x="190996" y="1044590"/>
                <a:ext cx="5229150" cy="22621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Пики, наблюдаемые на данном графике, соответствуют резонансу поглощения на различных частотах для молекул водяного пара</a:t>
                </a:r>
                <a:r>
                  <a:rPr lang="en-US" sz="1600" dirty="0">
                    <a:latin typeface="Futura PT Light" panose="020B0402020204020303" pitchFamily="34" charset="-52"/>
                  </a:rPr>
                  <a:t> </a:t>
                </a:r>
                <a:r>
                  <a:rPr lang="ru-RU" sz="1600" dirty="0">
                    <a:latin typeface="Futura PT Light" panose="020B0402020204020303" pitchFamily="34" charset="-52"/>
                  </a:rPr>
                  <a:t>и молекул кислорода.</a:t>
                </a: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Затухание волн происходит по закону Бэра-Ламбера</a:t>
                </a:r>
                <a:r>
                  <a:rPr lang="en-US" sz="1600" dirty="0">
                    <a:latin typeface="Futura PT Light" panose="020B0402020204020303" pitchFamily="34" charset="-52"/>
                  </a:rPr>
                  <a:t>:</a:t>
                </a:r>
              </a:p>
              <a:p>
                <a:pPr defTabSz="914172">
                  <a:spcAft>
                    <a:spcPts val="180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4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ru-RU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US" sz="14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⋅</m:t>
                      </m:r>
                      <m:func>
                        <m:funcPr>
                          <m:ctrlPr>
                            <a:rPr lang="ru-RU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sz="1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𝑒𝑥𝑝</m:t>
                          </m:r>
                        </m:fName>
                        <m:e>
                          <m:d>
                            <m:dPr>
                              <m:ctrlPr>
                                <a:rPr lang="ru-RU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m:rPr>
                                  <m:sty m:val="p"/>
                                </m:rP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κ</m:t>
                              </m:r>
                              <m:d>
                                <m:dPr>
                                  <m:ctrlPr>
                                    <a:rPr lang="ru-RU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</m:d>
                              <m:r>
                                <a:rPr lang="en-US" sz="14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⋅</m:t>
                              </m:r>
                              <m:r>
                                <a:rPr lang="en-US" sz="14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𝑟</m:t>
                              </m:r>
                            </m:e>
                          </m:d>
                        </m:e>
                      </m:func>
                    </m:oMath>
                  </m:oMathPara>
                </a14:m>
                <a:endParaRPr lang="en-US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  <a:p>
                <a:pPr defTabSz="914172">
                  <a:spcAft>
                    <a:spcPts val="1800"/>
                  </a:spcAft>
                  <a:defRPr/>
                </a:pPr>
                <a:r>
                  <a:rPr lang="ru-RU" dirty="0">
                    <a:latin typeface="Futura PT Light" panose="020B0402020204020303" pitchFamily="34" charset="-52"/>
                    <a:ea typeface="Cambria Math" panose="02040503050406030204" pitchFamily="18" charset="0"/>
                  </a:rPr>
                  <a:t>Также на затухание влияет интенсивность осадков.</a:t>
                </a:r>
                <a:endParaRPr lang="en-US" dirty="0">
                  <a:latin typeface="Futura PT Light" panose="020B0402020204020303" pitchFamily="34" charset="-52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6A821539-22B8-F2A2-FEC6-0F5C6870DB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996" y="1044590"/>
                <a:ext cx="5229150" cy="2262158"/>
              </a:xfrm>
              <a:prstGeom prst="rect">
                <a:avLst/>
              </a:prstGeom>
              <a:blipFill>
                <a:blip r:embed="rId3"/>
                <a:stretch>
                  <a:fillRect l="-932" t="-539" b="-350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9297670A-9846-1C60-0180-32BA6A5A4E9A}"/>
              </a:ext>
            </a:extLst>
          </p:cNvPr>
          <p:cNvSpPr/>
          <p:nvPr/>
        </p:nvSpPr>
        <p:spPr>
          <a:xfrm>
            <a:off x="175334" y="612566"/>
            <a:ext cx="5248881" cy="42402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0A9441-D1C5-A0E3-AE87-A29FC74FB77D}"/>
              </a:ext>
            </a:extLst>
          </p:cNvPr>
          <p:cNvSpPr txBox="1"/>
          <p:nvPr/>
        </p:nvSpPr>
        <p:spPr>
          <a:xfrm>
            <a:off x="171265" y="632487"/>
            <a:ext cx="524888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Потери в атмосфере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pic>
        <p:nvPicPr>
          <p:cNvPr id="27" name="Рисунок 26" descr="Изображение выглядит как текст, снимок экран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78651E2-CE7F-5F8C-E1C9-EDA00DE6E1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49375" y="578705"/>
            <a:ext cx="6574670" cy="2816434"/>
          </a:xfrm>
          <a:prstGeom prst="rect">
            <a:avLst/>
          </a:prstGeom>
        </p:spPr>
      </p:pic>
      <p:pic>
        <p:nvPicPr>
          <p:cNvPr id="29" name="Рисунок 28" descr="Изображение выглядит как текст, число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565001-6737-24D0-41BB-11FDB2977F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9014" y="3713203"/>
            <a:ext cx="4265393" cy="2669652"/>
          </a:xfrm>
          <a:prstGeom prst="rect">
            <a:avLst/>
          </a:prstGeom>
        </p:spPr>
      </p:pic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DF3ED8C-4C2D-9C3E-5332-619A1F9C7114}"/>
              </a:ext>
            </a:extLst>
          </p:cNvPr>
          <p:cNvSpPr/>
          <p:nvPr/>
        </p:nvSpPr>
        <p:spPr>
          <a:xfrm>
            <a:off x="194205" y="3742434"/>
            <a:ext cx="3179793" cy="261629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68CD32C-527E-9034-4F71-B88E18AD16CA}"/>
              </a:ext>
            </a:extLst>
          </p:cNvPr>
          <p:cNvSpPr txBox="1"/>
          <p:nvPr/>
        </p:nvSpPr>
        <p:spPr>
          <a:xfrm>
            <a:off x="199476" y="4682000"/>
            <a:ext cx="3182325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По тому же закону Бэра-Ламбера проявляются потери при прохождении ТГц волн через различные материалы.</a:t>
            </a:r>
            <a:endParaRPr lang="en-US" dirty="0">
              <a:latin typeface="Futura PT Light" panose="020B0402020204020303" pitchFamily="34" charset="-52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BB0045C4-879F-BFA1-DD65-3AF8C62342CF}"/>
              </a:ext>
            </a:extLst>
          </p:cNvPr>
          <p:cNvSpPr/>
          <p:nvPr/>
        </p:nvSpPr>
        <p:spPr>
          <a:xfrm>
            <a:off x="185726" y="3714513"/>
            <a:ext cx="3184705" cy="57526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D64D2C3-7A4D-7525-E7D5-BAACCF3449BA}"/>
              </a:ext>
            </a:extLst>
          </p:cNvPr>
          <p:cNvSpPr txBox="1"/>
          <p:nvPr/>
        </p:nvSpPr>
        <p:spPr>
          <a:xfrm>
            <a:off x="194205" y="3734434"/>
            <a:ext cx="317603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Потери при прохождении через материалы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1571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896A98-B87F-E5A4-B49A-2AAC74F682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73A9914-B223-988A-1846-4A214717A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5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857306E0-3DF0-327E-D5B3-A4A32F0CFA78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Многолучевое распространение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F15519EF-F785-EA07-B084-8B167197D4F2}"/>
              </a:ext>
            </a:extLst>
          </p:cNvPr>
          <p:cNvSpPr/>
          <p:nvPr/>
        </p:nvSpPr>
        <p:spPr>
          <a:xfrm>
            <a:off x="204387" y="783868"/>
            <a:ext cx="3184515" cy="35735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2D196C-A74F-BC0C-8232-2256A63098CB}"/>
              </a:ext>
            </a:extLst>
          </p:cNvPr>
          <p:cNvSpPr txBox="1"/>
          <p:nvPr/>
        </p:nvSpPr>
        <p:spPr>
          <a:xfrm>
            <a:off x="195908" y="1491766"/>
            <a:ext cx="317924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Волны рассеиваются на объектах, которые сопоставимы по размерам с длиной волны. Таким образом, почти все поверхности (стены зданий, дороги, и т. д.) становятся</a:t>
            </a:r>
            <a:r>
              <a:rPr lang="en-US" sz="1600" dirty="0">
                <a:latin typeface="Futura PT Light" panose="020B0402020204020303" pitchFamily="34" charset="-52"/>
              </a:rPr>
              <a:t> </a:t>
            </a:r>
            <a:r>
              <a:rPr lang="ru-RU" sz="1600" dirty="0">
                <a:latin typeface="Futura PT Light" panose="020B0402020204020303" pitchFamily="34" charset="-52"/>
              </a:rPr>
              <a:t>более рассеивающими (не гладкими) для ТГц волн по сравнению с </a:t>
            </a:r>
            <a:r>
              <a:rPr lang="ru-RU" sz="1600" dirty="0" err="1">
                <a:latin typeface="Futura PT Light" panose="020B0402020204020303" pitchFamily="34" charset="-52"/>
              </a:rPr>
              <a:t>волными</a:t>
            </a:r>
            <a:r>
              <a:rPr lang="ru-RU" sz="1600" dirty="0">
                <a:latin typeface="Futura PT Light" panose="020B0402020204020303" pitchFamily="34" charset="-52"/>
              </a:rPr>
              <a:t> частот, используемых в системах 4/5</a:t>
            </a:r>
            <a:r>
              <a:rPr lang="en-US" sz="1600" dirty="0">
                <a:latin typeface="Futura PT Light" panose="020B0402020204020303" pitchFamily="34" charset="-52"/>
              </a:rPr>
              <a:t>G</a:t>
            </a: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ECD7D5D5-4974-7AE2-A8F9-A163350C031A}"/>
              </a:ext>
            </a:extLst>
          </p:cNvPr>
          <p:cNvSpPr/>
          <p:nvPr/>
        </p:nvSpPr>
        <p:spPr>
          <a:xfrm>
            <a:off x="195908" y="755946"/>
            <a:ext cx="3184705" cy="735819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EB48F3-07D4-14D3-4E1A-08AB791DDF49}"/>
              </a:ext>
            </a:extLst>
          </p:cNvPr>
          <p:cNvSpPr txBox="1"/>
          <p:nvPr/>
        </p:nvSpPr>
        <p:spPr>
          <a:xfrm>
            <a:off x="204387" y="775868"/>
            <a:ext cx="317076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Отражение ТГц волн от объектов городской/внутриофисной среды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pic>
        <p:nvPicPr>
          <p:cNvPr id="8" name="Рисунок 7" descr="Изображение выглядит как текст, линия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33C45B9-278C-A4E3-6048-B53E3E95A6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882" y="652745"/>
            <a:ext cx="2913290" cy="2366124"/>
          </a:xfrm>
          <a:prstGeom prst="rect">
            <a:avLst/>
          </a:prstGeom>
        </p:spPr>
      </p:pic>
      <p:pic>
        <p:nvPicPr>
          <p:cNvPr id="10" name="Рисунок 9" descr="Изображение выглядит как текст, визитная карточка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96417CC2-197F-9503-D548-7E4D9097EA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1472" y="1043581"/>
            <a:ext cx="4884390" cy="2049782"/>
          </a:xfrm>
          <a:prstGeom prst="rect">
            <a:avLst/>
          </a:prstGeom>
        </p:spPr>
      </p:pic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629B601C-994F-0727-B66C-F57928D57224}"/>
              </a:ext>
            </a:extLst>
          </p:cNvPr>
          <p:cNvSpPr/>
          <p:nvPr/>
        </p:nvSpPr>
        <p:spPr>
          <a:xfrm>
            <a:off x="222437" y="4473887"/>
            <a:ext cx="3152715" cy="1882463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18DCF2-8267-54C5-BDE6-F077B5FC8D2E}"/>
                  </a:ext>
                </a:extLst>
              </p:cNvPr>
              <p:cNvSpPr txBox="1"/>
              <p:nvPr/>
            </p:nvSpPr>
            <p:spPr>
              <a:xfrm>
                <a:off x="236656" y="5037146"/>
                <a:ext cx="3147497" cy="129266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Принятый сигнал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sz="1600" dirty="0">
                    <a:latin typeface="Futura PT Light" panose="020B0402020204020303" pitchFamily="34" charset="-52"/>
                  </a:rPr>
                  <a:t> </a:t>
                </a:r>
                <a:r>
                  <a:rPr lang="ru-RU" sz="1600" dirty="0">
                    <a:latin typeface="Futura PT Light" panose="020B0402020204020303" pitchFamily="34" charset="-52"/>
                  </a:rPr>
                  <a:t>связан с переданным </a:t>
                </a:r>
                <a14:m>
                  <m:oMath xmlns:m="http://schemas.openxmlformats.org/officeDocument/2006/math"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ru-RU" sz="1600" dirty="0">
                    <a:latin typeface="Futura PT Light" panose="020B0402020204020303" pitchFamily="34" charset="-52"/>
                  </a:rPr>
                  <a:t> через свертку</a:t>
                </a:r>
                <a:r>
                  <a:rPr lang="en-US" sz="1600" dirty="0">
                    <a:latin typeface="Futura PT Light" panose="020B0402020204020303" pitchFamily="34" charset="-52"/>
                  </a:rPr>
                  <a:t>:</a:t>
                </a:r>
                <a:endParaRPr lang="ru-RU" sz="1600" dirty="0">
                  <a:latin typeface="Futura PT Light" panose="020B0402020204020303" pitchFamily="34" charset="-52"/>
                </a:endParaRP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h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∗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US" sz="1400" dirty="0">
                  <a:latin typeface="Futura PT Light" panose="020B0402020204020303" pitchFamily="34" charset="-52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18DCF2-8267-54C5-BDE6-F077B5FC8D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656" y="5037146"/>
                <a:ext cx="3147497" cy="1292662"/>
              </a:xfrm>
              <a:prstGeom prst="rect">
                <a:avLst/>
              </a:prstGeom>
              <a:blipFill>
                <a:blip r:embed="rId4"/>
                <a:stretch>
                  <a:fillRect l="-1163" t="-943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DAFEFBE-6D54-C370-3E14-3A614183B160}"/>
              </a:ext>
            </a:extLst>
          </p:cNvPr>
          <p:cNvSpPr/>
          <p:nvPr/>
        </p:nvSpPr>
        <p:spPr>
          <a:xfrm>
            <a:off x="213958" y="4445966"/>
            <a:ext cx="3152903" cy="61269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339785C-4D02-9BBC-1D88-5605FA94EAC0}"/>
              </a:ext>
            </a:extLst>
          </p:cNvPr>
          <p:cNvSpPr txBox="1"/>
          <p:nvPr/>
        </p:nvSpPr>
        <p:spPr>
          <a:xfrm>
            <a:off x="222437" y="4465887"/>
            <a:ext cx="314519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Модель многолучевого распространения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pic>
        <p:nvPicPr>
          <p:cNvPr id="21" name="Рисунок 20" descr="Изображение выглядит как текст, линия, График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34EF108-DF7F-5DA1-BC2A-042425049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8214" y="3217602"/>
            <a:ext cx="4453715" cy="3436369"/>
          </a:xfrm>
          <a:prstGeom prst="rect">
            <a:avLst/>
          </a:prstGeom>
        </p:spPr>
      </p:pic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04315D99-A215-97E4-CED5-37EF0EEF4326}"/>
              </a:ext>
            </a:extLst>
          </p:cNvPr>
          <p:cNvSpPr/>
          <p:nvPr/>
        </p:nvSpPr>
        <p:spPr>
          <a:xfrm>
            <a:off x="8054023" y="3351637"/>
            <a:ext cx="3851839" cy="297817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F6998C9-548A-4DFB-BE96-09DEB9DEF8C7}"/>
              </a:ext>
            </a:extLst>
          </p:cNvPr>
          <p:cNvSpPr txBox="1"/>
          <p:nvPr/>
        </p:nvSpPr>
        <p:spPr>
          <a:xfrm>
            <a:off x="8056280" y="4175008"/>
            <a:ext cx="3851839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Измеренный ИХ в различных типовых сценариях необходимы для подбора параметров используемого в системе связи сигнала (типа, длительности, полосы), который будет наилучшим образом согласован с типовыми каналами распространения.</a:t>
            </a:r>
            <a:endParaRPr lang="en-US" sz="1400" dirty="0">
              <a:latin typeface="Futura PT Light" panose="020B0402020204020303" pitchFamily="34" charset="-52"/>
            </a:endParaRPr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B15B89B4-5F7D-78BA-AA86-A55BA7025076}"/>
              </a:ext>
            </a:extLst>
          </p:cNvPr>
          <p:cNvSpPr/>
          <p:nvPr/>
        </p:nvSpPr>
        <p:spPr>
          <a:xfrm>
            <a:off x="8054021" y="3351637"/>
            <a:ext cx="3852069" cy="66620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B008746-46FF-4967-BBEF-1C0332083981}"/>
              </a:ext>
            </a:extLst>
          </p:cNvPr>
          <p:cNvSpPr txBox="1"/>
          <p:nvPr/>
        </p:nvSpPr>
        <p:spPr>
          <a:xfrm>
            <a:off x="8053795" y="3497536"/>
            <a:ext cx="384358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Зачем нужно измерять импульсный отклик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23161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4A161-98D7-7E13-9B02-DE7D37BFA1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F6AC109F-A708-958E-35FE-224ECA671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6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4B159359-266E-CECA-99A2-E61CDA0865F3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Измерения импульсных характеристик в ТГц диапазоне</a:t>
            </a:r>
          </a:p>
        </p:txBody>
      </p:sp>
      <p:pic>
        <p:nvPicPr>
          <p:cNvPr id="5" name="Рисунок 4" descr="Изображение выглядит как текст, линия, Шрифт, диаграмм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8CA9B49-6107-D818-C546-1C106AA2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950" y="1173510"/>
            <a:ext cx="11185850" cy="2922586"/>
          </a:xfrm>
          <a:prstGeom prst="rect">
            <a:avLst/>
          </a:prstGeom>
        </p:spPr>
      </p:pic>
      <p:pic>
        <p:nvPicPr>
          <p:cNvPr id="8" name="Рисунок 7" descr="Изображение выглядит как текст, Шрифт, число, че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8D5D34-053C-1F8E-6457-DFED2C7C21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669" y="4241551"/>
            <a:ext cx="9797143" cy="2426323"/>
          </a:xfrm>
          <a:prstGeom prst="rect">
            <a:avLst/>
          </a:prstGeom>
        </p:spPr>
      </p:pic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AF4928F5-EA42-1B79-E8AA-B8CE305229D3}"/>
              </a:ext>
            </a:extLst>
          </p:cNvPr>
          <p:cNvSpPr/>
          <p:nvPr/>
        </p:nvSpPr>
        <p:spPr>
          <a:xfrm>
            <a:off x="207568" y="652745"/>
            <a:ext cx="11185850" cy="44803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93DF010-0B7C-28B2-613F-4388DFD03ED9}"/>
              </a:ext>
            </a:extLst>
          </p:cNvPr>
          <p:cNvSpPr txBox="1"/>
          <p:nvPr/>
        </p:nvSpPr>
        <p:spPr>
          <a:xfrm>
            <a:off x="207568" y="725472"/>
            <a:ext cx="5196673" cy="302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dirty="0">
                <a:solidFill>
                  <a:prstClr val="black"/>
                </a:solidFill>
                <a:latin typeface="Futura PT Medium" panose="020B0602020204020303" charset="-52"/>
              </a:rPr>
              <a:t>Методы измерения импульсного отклика канала</a:t>
            </a:r>
            <a:endParaRPr kumimoji="0" lang="ru-RU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539646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9FB82F-BECF-540B-052F-2FB490698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182EB88E-A29F-38E2-5C87-C2F58F61E8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7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9A2C5F65-8D10-C995-79F0-677F77E613A4}"/>
              </a:ext>
            </a:extLst>
          </p:cNvPr>
          <p:cNvSpPr txBox="1">
            <a:spLocks/>
          </p:cNvSpPr>
          <p:nvPr/>
        </p:nvSpPr>
        <p:spPr>
          <a:xfrm>
            <a:off x="66148" y="70133"/>
            <a:ext cx="11918283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Подходы к разработке аналогового фронт-энда для ТГц систем связи</a:t>
            </a:r>
          </a:p>
        </p:txBody>
      </p:sp>
      <p:pic>
        <p:nvPicPr>
          <p:cNvPr id="3" name="Рисунок 2" descr="Изображение выглядит как текст, Шрифт, программное обеспечение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737F74F-AFD4-D7C4-CBFA-2E4B5685F8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329" y="939286"/>
            <a:ext cx="10206859" cy="1419658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снимок экран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C399E3-550F-0D01-4324-C66B9746A8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99"/>
          <a:stretch>
            <a:fillRect/>
          </a:stretch>
        </p:blipFill>
        <p:spPr>
          <a:xfrm>
            <a:off x="142328" y="2393805"/>
            <a:ext cx="10206859" cy="141965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7502C75-AA23-8280-98D3-5EE6583F5E35}"/>
              </a:ext>
            </a:extLst>
          </p:cNvPr>
          <p:cNvSpPr txBox="1"/>
          <p:nvPr/>
        </p:nvSpPr>
        <p:spPr>
          <a:xfrm>
            <a:off x="66147" y="697581"/>
            <a:ext cx="7603615" cy="279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prstClr val="black"/>
                </a:solidFill>
                <a:latin typeface="Futura PT Medium" panose="020B0602020204020303" charset="-52"/>
              </a:rPr>
              <a:t>Подходы на основе электронных (полупроводниковых) приборов и фотоники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80CBD6B-8880-BA73-6E2C-7DC2EBE0F16D}"/>
              </a:ext>
            </a:extLst>
          </p:cNvPr>
          <p:cNvSpPr/>
          <p:nvPr/>
        </p:nvSpPr>
        <p:spPr>
          <a:xfrm>
            <a:off x="281231" y="4390636"/>
            <a:ext cx="2404533" cy="1213227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82726C7-E788-D7A8-37A2-69BBD08067D7}"/>
              </a:ext>
            </a:extLst>
          </p:cNvPr>
          <p:cNvSpPr txBox="1"/>
          <p:nvPr/>
        </p:nvSpPr>
        <p:spPr>
          <a:xfrm>
            <a:off x="281231" y="4555108"/>
            <a:ext cx="2404533" cy="8842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Как видно из схем, оба подхода используют усилитель на основе полупроводников.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pic>
        <p:nvPicPr>
          <p:cNvPr id="14" name="Рисунок 13" descr="Изображение выглядит как текст, снимок экрана, линия, Граф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F02AE48-97E1-4B40-8984-21E61D208E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58918" y="4244726"/>
            <a:ext cx="3890088" cy="2403752"/>
          </a:xfrm>
          <a:prstGeom prst="rect">
            <a:avLst/>
          </a:prstGeom>
        </p:spPr>
      </p:pic>
      <p:pic>
        <p:nvPicPr>
          <p:cNvPr id="15" name="Рисунок 14" descr="Изображение выглядит как линия, диаграмма, График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7F6F2DC3-10A0-825F-A54F-26E0DCD759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22160" y="4249635"/>
            <a:ext cx="4003294" cy="23988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D2C85FC-8352-4F96-FA28-5ACB32E1A117}"/>
              </a:ext>
            </a:extLst>
          </p:cNvPr>
          <p:cNvSpPr txBox="1"/>
          <p:nvPr/>
        </p:nvSpPr>
        <p:spPr>
          <a:xfrm>
            <a:off x="3867954" y="3958185"/>
            <a:ext cx="2404533" cy="302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Мощность насыщения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E8F3DC7-86FA-62A0-B160-B24F5985BF48}"/>
              </a:ext>
            </a:extLst>
          </p:cNvPr>
          <p:cNvSpPr txBox="1"/>
          <p:nvPr/>
        </p:nvSpPr>
        <p:spPr>
          <a:xfrm>
            <a:off x="7944655" y="3960190"/>
            <a:ext cx="2404533" cy="3025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kumimoji="0" lang="ru-RU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Futura PT Light" panose="020B0402020204020303" pitchFamily="34" charset="-52"/>
              </a:rPr>
              <a:t>Коэффициент шума</a:t>
            </a:r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346251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DB94A4-FF80-739B-B4E4-6C27DF3CE1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63BAFA21-E4A6-4386-3131-8F9BF3D2FD62}"/>
              </a:ext>
            </a:extLst>
          </p:cNvPr>
          <p:cNvSpPr/>
          <p:nvPr/>
        </p:nvSpPr>
        <p:spPr>
          <a:xfrm>
            <a:off x="168785" y="2050808"/>
            <a:ext cx="3470149" cy="375409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9B4ADEC-E2C8-9AB1-E94D-6B221B0C7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8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1FEE0BCE-1FA5-1872-4574-2FFC950E804C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Генераторы ТГц сигналов</a:t>
            </a:r>
            <a:r>
              <a:rPr lang="en-US" sz="3200" dirty="0">
                <a:latin typeface="Futura PT Book" panose="020B0502020204020303" pitchFamily="34" charset="-52"/>
              </a:rPr>
              <a:t> </a:t>
            </a:r>
            <a:r>
              <a:rPr lang="ru-RU" sz="3200" dirty="0">
                <a:latin typeface="Futura PT Book" panose="020B0502020204020303" pitchFamily="34" charset="-52"/>
              </a:rPr>
              <a:t>для устройств связи в 6</a:t>
            </a:r>
            <a:r>
              <a:rPr lang="en-US" sz="3200" dirty="0">
                <a:latin typeface="Futura PT Book" panose="020B0502020204020303" pitchFamily="34" charset="-52"/>
              </a:rPr>
              <a:t>G</a:t>
            </a:r>
            <a:endParaRPr lang="ru-RU" sz="3200" dirty="0">
              <a:latin typeface="Futura PT Book" panose="020B0502020204020303" pitchFamily="34" charset="-52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813BA8-2C16-FE80-0E7B-52605A2083DC}"/>
              </a:ext>
            </a:extLst>
          </p:cNvPr>
          <p:cNvSpPr txBox="1"/>
          <p:nvPr/>
        </p:nvSpPr>
        <p:spPr>
          <a:xfrm>
            <a:off x="168785" y="769017"/>
            <a:ext cx="3694090" cy="279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prstClr val="black"/>
                </a:solidFill>
                <a:latin typeface="Futura PT Medium" panose="020B0602020204020303" charset="-52"/>
              </a:rPr>
              <a:t>На основе электронных приборов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A276CC-CD94-7E4B-F6DD-02B304986612}"/>
              </a:ext>
            </a:extLst>
          </p:cNvPr>
          <p:cNvSpPr txBox="1"/>
          <p:nvPr/>
        </p:nvSpPr>
        <p:spPr>
          <a:xfrm>
            <a:off x="5816916" y="697581"/>
            <a:ext cx="3694090" cy="2792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172" rtl="0" eaLnBrk="1" fontAlgn="auto" latinLnBrk="0" hangingPunct="1">
              <a:lnSpc>
                <a:spcPct val="7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prstClr val="black"/>
                </a:solidFill>
                <a:latin typeface="Futura PT Medium" panose="020B0602020204020303" charset="-52"/>
              </a:rPr>
              <a:t>На основе фотонных приборов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Futura PT Light" panose="020B0402020204020303" pitchFamily="34" charset="-52"/>
            </a:endParaRPr>
          </a:p>
        </p:txBody>
      </p:sp>
      <p:pic>
        <p:nvPicPr>
          <p:cNvPr id="5" name="Рисунок 4" descr="Изображение выглядит как текст, Шрифт, снимок экрана, Цвет электр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91A6917-9998-810F-B02C-3FC8ADF76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005" y="1076182"/>
            <a:ext cx="2366406" cy="839693"/>
          </a:xfrm>
          <a:prstGeom prst="rect">
            <a:avLst/>
          </a:prstGeom>
        </p:spPr>
      </p:pic>
      <p:cxnSp>
        <p:nvCxnSpPr>
          <p:cNvPr id="6" name="Прямая соединительная линия 5">
            <a:extLst>
              <a:ext uri="{FF2B5EF4-FFF2-40B4-BE49-F238E27FC236}">
                <a16:creationId xmlns:a16="http://schemas.microsoft.com/office/drawing/2014/main" id="{F0B976DE-3E88-CC14-309E-33B692D9D2ED}"/>
              </a:ext>
            </a:extLst>
          </p:cNvPr>
          <p:cNvCxnSpPr>
            <a:cxnSpLocks/>
          </p:cNvCxnSpPr>
          <p:nvPr/>
        </p:nvCxnSpPr>
        <p:spPr>
          <a:xfrm>
            <a:off x="5569717" y="650221"/>
            <a:ext cx="18659" cy="620777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C483DD05-02B2-977B-CF80-ED7475E44329}"/>
              </a:ext>
            </a:extLst>
          </p:cNvPr>
          <p:cNvSpPr txBox="1"/>
          <p:nvPr/>
        </p:nvSpPr>
        <p:spPr>
          <a:xfrm>
            <a:off x="179025" y="2557857"/>
            <a:ext cx="3459914" cy="30008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Производится генерация СВЧ сигнала, которая затем пропускается через прибор с нелинейностью. После появления набора гармоник, нужная ТГц составляющая отфильтровывается.</a:t>
            </a:r>
          </a:p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Приборы, используемые для получения нужной гармоники</a:t>
            </a:r>
            <a:r>
              <a:rPr lang="en-US" sz="1600" dirty="0">
                <a:latin typeface="Futura PT Light" panose="020B0402020204020303" pitchFamily="34" charset="-52"/>
              </a:rPr>
              <a:t>:</a:t>
            </a: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Диоды </a:t>
            </a:r>
            <a:r>
              <a:rPr lang="ru-RU" sz="1600" dirty="0" err="1">
                <a:latin typeface="Futura PT Light" panose="020B0402020204020303" pitchFamily="34" charset="-52"/>
              </a:rPr>
              <a:t>Шотки</a:t>
            </a:r>
            <a:endParaRPr lang="ru-RU" sz="1600" dirty="0">
              <a:latin typeface="Futura PT Light" panose="020B0402020204020303" pitchFamily="34" charset="-52"/>
            </a:endParaRP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Биполярные транзисторы (</a:t>
            </a:r>
            <a:r>
              <a:rPr lang="en-US" sz="1600" dirty="0">
                <a:latin typeface="Futura PT Light" panose="020B0402020204020303" pitchFamily="34" charset="-52"/>
              </a:rPr>
              <a:t>InP, SiGe</a:t>
            </a:r>
            <a:r>
              <a:rPr lang="ru-RU" sz="1600" dirty="0">
                <a:latin typeface="Futura PT Light" panose="020B0402020204020303" pitchFamily="34" charset="-52"/>
              </a:rPr>
              <a:t>)</a:t>
            </a:r>
            <a:endParaRPr lang="en-US" sz="1600" dirty="0">
              <a:latin typeface="Futura PT Light" panose="020B0402020204020303" pitchFamily="34" charset="-52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7D9F53D4-EF41-D9AA-049A-6F5E9C8ADA4D}"/>
              </a:ext>
            </a:extLst>
          </p:cNvPr>
          <p:cNvSpPr/>
          <p:nvPr/>
        </p:nvSpPr>
        <p:spPr>
          <a:xfrm>
            <a:off x="170547" y="2050808"/>
            <a:ext cx="3470149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7EA9164-32CC-CAAE-742A-660CA252BC87}"/>
              </a:ext>
            </a:extLst>
          </p:cNvPr>
          <p:cNvSpPr txBox="1"/>
          <p:nvPr/>
        </p:nvSpPr>
        <p:spPr>
          <a:xfrm>
            <a:off x="179025" y="2121095"/>
            <a:ext cx="3464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Идея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D295BCF-709C-2A7C-11B7-68BB79F122C1}"/>
              </a:ext>
            </a:extLst>
          </p:cNvPr>
          <p:cNvSpPr txBox="1"/>
          <p:nvPr/>
        </p:nvSpPr>
        <p:spPr>
          <a:xfrm>
            <a:off x="168785" y="5863755"/>
            <a:ext cx="445692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Также упоминается использование ЛОВ, но для пользовательских устройств это часто не является подходящим устройством.</a:t>
            </a:r>
            <a:endParaRPr lang="en-US" sz="1600" dirty="0">
              <a:latin typeface="Futura PT Light" panose="020B0402020204020303" pitchFamily="34" charset="-52"/>
            </a:endParaRP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id="{B11A5D89-3F52-A0A0-2191-8D57E85085EC}"/>
              </a:ext>
            </a:extLst>
          </p:cNvPr>
          <p:cNvCxnSpPr>
            <a:cxnSpLocks/>
          </p:cNvCxnSpPr>
          <p:nvPr/>
        </p:nvCxnSpPr>
        <p:spPr>
          <a:xfrm flipH="1">
            <a:off x="1800808" y="4469363"/>
            <a:ext cx="2164702" cy="41987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C6AE86D4-099C-90DA-31DB-FC03FA0D3E30}"/>
              </a:ext>
            </a:extLst>
          </p:cNvPr>
          <p:cNvCxnSpPr>
            <a:cxnSpLocks/>
          </p:cNvCxnSpPr>
          <p:nvPr/>
        </p:nvCxnSpPr>
        <p:spPr>
          <a:xfrm flipH="1">
            <a:off x="3498980" y="5141167"/>
            <a:ext cx="681134" cy="19594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4A4E9130-08FA-888A-A96C-D67E695A4987}"/>
              </a:ext>
            </a:extLst>
          </p:cNvPr>
          <p:cNvSpPr txBox="1"/>
          <p:nvPr/>
        </p:nvSpPr>
        <p:spPr>
          <a:xfrm>
            <a:off x="3680557" y="3810856"/>
            <a:ext cx="2014751" cy="582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Маленькая мощность, широкая полоса</a:t>
            </a:r>
            <a:endParaRPr lang="en-US" sz="1600" dirty="0">
              <a:latin typeface="Futura PT Light" panose="020B0402020204020303" pitchFamily="34" charset="-5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07CC0A1-440F-8067-D6C2-25C4DF64DC33}"/>
              </a:ext>
            </a:extLst>
          </p:cNvPr>
          <p:cNvSpPr txBox="1"/>
          <p:nvPr/>
        </p:nvSpPr>
        <p:spPr>
          <a:xfrm>
            <a:off x="3649174" y="4569952"/>
            <a:ext cx="1804204" cy="5826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Большая мощность, узкая полоса</a:t>
            </a:r>
            <a:endParaRPr lang="en-US" sz="1600" dirty="0">
              <a:latin typeface="Futura PT Light" panose="020B0402020204020303" pitchFamily="34" charset="-52"/>
            </a:endParaRPr>
          </a:p>
        </p:txBody>
      </p:sp>
      <p:pic>
        <p:nvPicPr>
          <p:cNvPr id="24" name="Рисунок 23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E04D49E-3240-4AFB-91B0-CF67F18ABA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1401" y="1021661"/>
            <a:ext cx="4472594" cy="864733"/>
          </a:xfrm>
          <a:prstGeom prst="rect">
            <a:avLst/>
          </a:prstGeom>
        </p:spPr>
      </p:pic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197FB6C-FFA7-5F5B-FBC3-607F9A9DECE8}"/>
              </a:ext>
            </a:extLst>
          </p:cNvPr>
          <p:cNvSpPr/>
          <p:nvPr/>
        </p:nvSpPr>
        <p:spPr>
          <a:xfrm>
            <a:off x="5704715" y="2069284"/>
            <a:ext cx="3470149" cy="4287066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915A491-39AB-4C3F-00ED-37F0B4BCC4E0}"/>
              </a:ext>
            </a:extLst>
          </p:cNvPr>
          <p:cNvSpPr txBox="1"/>
          <p:nvPr/>
        </p:nvSpPr>
        <p:spPr>
          <a:xfrm>
            <a:off x="5714954" y="2576333"/>
            <a:ext cx="3459909" cy="3724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Производится генерация разностного сигнала от 2 сигналов оптической частоты. Разностный сигнал получается на нелинейных элементах</a:t>
            </a:r>
            <a:r>
              <a:rPr lang="en-US" sz="1600" dirty="0">
                <a:latin typeface="Futura PT Light" panose="020B0402020204020303" pitchFamily="34" charset="-52"/>
              </a:rPr>
              <a:t>:</a:t>
            </a: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600" dirty="0">
                <a:latin typeface="Futura PT Light" panose="020B0402020204020303" pitchFamily="34" charset="-52"/>
              </a:rPr>
              <a:t>PIN-PD</a:t>
            </a:r>
            <a:r>
              <a:rPr lang="ru-RU" sz="1600" dirty="0">
                <a:latin typeface="Futura PT Light" panose="020B0402020204020303" pitchFamily="34" charset="-52"/>
              </a:rPr>
              <a:t> (фотодетектор)</a:t>
            </a:r>
            <a:endParaRPr lang="en-US" sz="1600" dirty="0">
              <a:latin typeface="Futura PT Light" panose="020B0402020204020303" pitchFamily="34" charset="-52"/>
            </a:endParaRP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Фотопроводящая антенна</a:t>
            </a:r>
            <a:r>
              <a:rPr lang="en-US" sz="1600" dirty="0">
                <a:latin typeface="Futura PT Light" panose="020B0402020204020303" pitchFamily="34" charset="-52"/>
              </a:rPr>
              <a:t> (PCA)</a:t>
            </a:r>
            <a:endParaRPr lang="ru-RU" sz="1600" dirty="0">
              <a:latin typeface="Futura PT Light" panose="020B0402020204020303" pitchFamily="34" charset="-52"/>
            </a:endParaRPr>
          </a:p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Medium" panose="020B0602020204020303" pitchFamily="34" charset="-52"/>
              </a:rPr>
              <a:t>Преимущества по сравнению с электронным подходом</a:t>
            </a:r>
            <a:r>
              <a:rPr lang="en-US" sz="1600" dirty="0">
                <a:latin typeface="Futura PT Medium" panose="020B0602020204020303" pitchFamily="34" charset="-52"/>
              </a:rPr>
              <a:t>: </a:t>
            </a:r>
            <a:r>
              <a:rPr lang="ru-RU" sz="1600" dirty="0">
                <a:latin typeface="Futura PT Light" panose="020B0402020204020303" pitchFamily="34" charset="-52"/>
              </a:rPr>
              <a:t>низкий фазовый шум, широкая полоса</a:t>
            </a:r>
            <a:r>
              <a:rPr lang="en-US" sz="1600" dirty="0">
                <a:latin typeface="Futura PT Light" panose="020B0402020204020303" pitchFamily="34" charset="-52"/>
              </a:rPr>
              <a:t>.</a:t>
            </a:r>
          </a:p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Недостатки</a:t>
            </a:r>
            <a:r>
              <a:rPr lang="en-US" sz="1600" dirty="0">
                <a:latin typeface="Futura PT Light" panose="020B0402020204020303" pitchFamily="34" charset="-52"/>
              </a:rPr>
              <a:t>: </a:t>
            </a:r>
            <a:r>
              <a:rPr lang="ru-RU" sz="1600" dirty="0">
                <a:latin typeface="Futura PT Light" panose="020B0402020204020303" pitchFamily="34" charset="-52"/>
              </a:rPr>
              <a:t>низкая выходная мощность, высокая стоимость.</a:t>
            </a: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1CE975BA-0D0A-DCB8-C001-78278665C03B}"/>
              </a:ext>
            </a:extLst>
          </p:cNvPr>
          <p:cNvSpPr/>
          <p:nvPr/>
        </p:nvSpPr>
        <p:spPr>
          <a:xfrm>
            <a:off x="5706477" y="2069284"/>
            <a:ext cx="3470149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158CCA4-D19E-F420-A7B9-C8E87327E857}"/>
              </a:ext>
            </a:extLst>
          </p:cNvPr>
          <p:cNvSpPr txBox="1"/>
          <p:nvPr/>
        </p:nvSpPr>
        <p:spPr>
          <a:xfrm>
            <a:off x="5714955" y="2139571"/>
            <a:ext cx="346477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Идея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sp>
        <p:nvSpPr>
          <p:cNvPr id="29" name="AutoShape 2" descr="Фотопроводящие антенны – TeraSol">
            <a:extLst>
              <a:ext uri="{FF2B5EF4-FFF2-40B4-BE49-F238E27FC236}">
                <a16:creationId xmlns:a16="http://schemas.microsoft.com/office/drawing/2014/main" id="{9E5C8F0D-999D-1526-2DB0-27EA33B15BF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102" name="Picture 6" descr="Фотопроводящие антенны – TeraSol">
            <a:extLst>
              <a:ext uri="{FF2B5EF4-FFF2-40B4-BE49-F238E27FC236}">
                <a16:creationId xmlns:a16="http://schemas.microsoft.com/office/drawing/2014/main" id="{77D0BB05-AF1E-F17C-5CEB-6BA3800D14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58" t="21923" r="28280" b="22177"/>
          <a:stretch>
            <a:fillRect/>
          </a:stretch>
        </p:blipFill>
        <p:spPr bwMode="auto">
          <a:xfrm>
            <a:off x="9511006" y="3031180"/>
            <a:ext cx="2493495" cy="2204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4DDF14A9-8F05-52F9-2639-F3AEF9DE515B}"/>
              </a:ext>
            </a:extLst>
          </p:cNvPr>
          <p:cNvCxnSpPr>
            <a:cxnSpLocks/>
            <a:endCxn id="4102" idx="1"/>
          </p:cNvCxnSpPr>
          <p:nvPr/>
        </p:nvCxnSpPr>
        <p:spPr>
          <a:xfrm flipV="1">
            <a:off x="8761445" y="4133360"/>
            <a:ext cx="749561" cy="33600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67803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D5BF0-8DBD-4D4B-2108-0BC14FBB1B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3F16A608-8AD3-0AD8-4101-7178D8CEB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9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519EC6F7-D66C-DE5F-3A33-0D3B1BFCAB1A}"/>
              </a:ext>
            </a:extLst>
          </p:cNvPr>
          <p:cNvSpPr txBox="1">
            <a:spLocks/>
          </p:cNvSpPr>
          <p:nvPr/>
        </p:nvSpPr>
        <p:spPr>
          <a:xfrm>
            <a:off x="66148" y="70133"/>
            <a:ext cx="11970342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Используемые сигналы в системе </a:t>
            </a:r>
            <a:r>
              <a:rPr lang="en-US" sz="3200" dirty="0">
                <a:latin typeface="Futura PT Book" panose="020B0502020204020303" pitchFamily="34" charset="-52"/>
              </a:rPr>
              <a:t>“</a:t>
            </a:r>
            <a:r>
              <a:rPr lang="ru-RU" sz="3200" dirty="0">
                <a:latin typeface="Futura PT Book" panose="020B0502020204020303" pitchFamily="34" charset="-52"/>
              </a:rPr>
              <a:t>сеть на кристалле</a:t>
            </a:r>
            <a:r>
              <a:rPr lang="en-US" sz="3200" dirty="0">
                <a:latin typeface="Futura PT Book" panose="020B0502020204020303" pitchFamily="34" charset="-52"/>
              </a:rPr>
              <a:t>”</a:t>
            </a:r>
            <a:r>
              <a:rPr lang="ru-RU" sz="3200" dirty="0">
                <a:latin typeface="Futura PT Book" panose="020B0502020204020303" pitchFamily="34" charset="-52"/>
              </a:rPr>
              <a:t> и их генерация</a:t>
            </a:r>
          </a:p>
        </p:txBody>
      </p:sp>
      <p:pic>
        <p:nvPicPr>
          <p:cNvPr id="3" name="Рисунок 2" descr="Изображение выглядит как текст, линия, диаграмма, Шриф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9BFBAFC-1868-821E-7115-1018172C34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36" y="2967757"/>
            <a:ext cx="5258534" cy="3515216"/>
          </a:xfrm>
          <a:prstGeom prst="rect">
            <a:avLst/>
          </a:prstGeom>
        </p:spPr>
      </p:pic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17FEC979-9CEA-35D5-6A7C-158D1BBB10AE}"/>
              </a:ext>
            </a:extLst>
          </p:cNvPr>
          <p:cNvSpPr/>
          <p:nvPr/>
        </p:nvSpPr>
        <p:spPr>
          <a:xfrm>
            <a:off x="5926205" y="1516376"/>
            <a:ext cx="5377114" cy="2290728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153BFF1-2205-6617-F573-2A949B9590BA}"/>
              </a:ext>
            </a:extLst>
          </p:cNvPr>
          <p:cNvSpPr txBox="1"/>
          <p:nvPr/>
        </p:nvSpPr>
        <p:spPr>
          <a:xfrm>
            <a:off x="5926203" y="2023424"/>
            <a:ext cx="5377115" cy="15542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Такие сигналы имеют низкое значение средней активной мощности(низкое энергопотребление).</a:t>
            </a: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Из-за высокой скважности импульсов коллизии между 2 разными устройствами, пытающимися передать информацию, имеют очень низкую вероятность.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DE739229-3925-4D99-FF17-8873B11A48F3}"/>
              </a:ext>
            </a:extLst>
          </p:cNvPr>
          <p:cNvSpPr/>
          <p:nvPr/>
        </p:nvSpPr>
        <p:spPr>
          <a:xfrm>
            <a:off x="5917726" y="1516375"/>
            <a:ext cx="5377114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41CB42-B19A-39A0-1370-B90821E1B01F}"/>
              </a:ext>
            </a:extLst>
          </p:cNvPr>
          <p:cNvSpPr txBox="1"/>
          <p:nvPr/>
        </p:nvSpPr>
        <p:spPr>
          <a:xfrm>
            <a:off x="5926204" y="1586662"/>
            <a:ext cx="536879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Почему импульсные сигналы</a:t>
            </a:r>
            <a:r>
              <a:rPr lang="ru-RU" sz="1600" dirty="0">
                <a:solidFill>
                  <a:schemeClr val="bg1"/>
                </a:solidFill>
                <a:latin typeface="Futura PT Medium" panose="020B0602020204020303" pitchFamily="34" charset="-52"/>
              </a:rPr>
              <a:t>?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118E0E55-0582-4C33-29F4-D03DB0BBE8ED}"/>
              </a:ext>
            </a:extLst>
          </p:cNvPr>
          <p:cNvSpPr/>
          <p:nvPr/>
        </p:nvSpPr>
        <p:spPr>
          <a:xfrm>
            <a:off x="5934682" y="4271785"/>
            <a:ext cx="5360158" cy="1697007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8BD2A5B-D09B-98EB-669E-87DBD0FF6573}"/>
              </a:ext>
            </a:extLst>
          </p:cNvPr>
          <p:cNvSpPr txBox="1"/>
          <p:nvPr/>
        </p:nvSpPr>
        <p:spPr>
          <a:xfrm>
            <a:off x="5934680" y="4750914"/>
            <a:ext cx="536015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Т.к. достижение высокой мощности в данной системе не обязательно, предлагается использование фотонного метода с фотопроводящей антенной, на которую поступает излучение фемтосекундного лазера.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C0EFE6F2-7716-A043-5BC0-B1B5DDA91C90}"/>
              </a:ext>
            </a:extLst>
          </p:cNvPr>
          <p:cNvSpPr/>
          <p:nvPr/>
        </p:nvSpPr>
        <p:spPr>
          <a:xfrm>
            <a:off x="5926203" y="4243865"/>
            <a:ext cx="5360158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6B8DEF6-6BC4-ACD4-3715-3E74B5590DCA}"/>
              </a:ext>
            </a:extLst>
          </p:cNvPr>
          <p:cNvSpPr txBox="1"/>
          <p:nvPr/>
        </p:nvSpPr>
        <p:spPr>
          <a:xfrm>
            <a:off x="5934682" y="4314152"/>
            <a:ext cx="53518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lang="ru-RU" sz="1600" dirty="0">
                <a:solidFill>
                  <a:schemeClr val="bg1"/>
                </a:solidFill>
                <a:latin typeface="Futura PT Medium" panose="020B0602020204020303" pitchFamily="34" charset="-52"/>
              </a:rPr>
              <a:t>Метод генерации импульсного сигнала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pic>
        <p:nvPicPr>
          <p:cNvPr id="2" name="Рисунок 1" descr="Изображение выглядит как Прямоугольник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B4E01DF0-7118-DD81-FC40-56F46B6CA5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2888" y="964279"/>
            <a:ext cx="2887804" cy="1921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11324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3946-EC1A-44BB-E722-F69DFF22E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A83D4736-4A42-F89A-B406-8A20A49FB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10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ED72DF28-8AED-592A-0F99-433041D5F211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Антенны и </a:t>
            </a:r>
            <a:r>
              <a:rPr lang="ru-RU" sz="3200" dirty="0" err="1">
                <a:latin typeface="Futura PT Book" panose="020B0502020204020303" pitchFamily="34" charset="-52"/>
              </a:rPr>
              <a:t>бимформинг</a:t>
            </a:r>
            <a:endParaRPr lang="ru-RU" sz="3200" dirty="0">
              <a:latin typeface="Futura PT Book" panose="020B0502020204020303" pitchFamily="34" charset="-52"/>
            </a:endParaRPr>
          </a:p>
        </p:txBody>
      </p:sp>
      <p:pic>
        <p:nvPicPr>
          <p:cNvPr id="3" name="Рисунок 2" descr="Изображение выглядит как текст, диаграмма, снимок экрана, карт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D2B8D19-9310-33DF-98F5-A719FC78AF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123" y="3403519"/>
            <a:ext cx="4322741" cy="3317956"/>
          </a:xfrm>
          <a:prstGeom prst="rect">
            <a:avLst/>
          </a:prstGeom>
        </p:spPr>
      </p:pic>
      <p:pic>
        <p:nvPicPr>
          <p:cNvPr id="4" name="Рисунок 3" descr="Intelligent Reflecting Surfaces Beamforming Optimization with Statistical  Channel Knowledge">
            <a:extLst>
              <a:ext uri="{FF2B5EF4-FFF2-40B4-BE49-F238E27FC236}">
                <a16:creationId xmlns:a16="http://schemas.microsoft.com/office/drawing/2014/main" id="{8B08DEDE-94F7-4C52-A6E7-0EF399A0B2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67666" y="3970305"/>
            <a:ext cx="2648585" cy="195834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866D1F60-BDBF-0F6B-E306-0C6E8DDAF8D7}"/>
              </a:ext>
            </a:extLst>
          </p:cNvPr>
          <p:cNvSpPr/>
          <p:nvPr/>
        </p:nvSpPr>
        <p:spPr>
          <a:xfrm>
            <a:off x="191125" y="2090795"/>
            <a:ext cx="6666875" cy="132457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54919F4-C69C-29B7-5AF0-788449303CBD}"/>
              </a:ext>
            </a:extLst>
          </p:cNvPr>
          <p:cNvSpPr txBox="1"/>
          <p:nvPr/>
        </p:nvSpPr>
        <p:spPr>
          <a:xfrm>
            <a:off x="191125" y="2584368"/>
            <a:ext cx="666687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Для систем UM-MIMO полностью цифровой </a:t>
            </a:r>
            <a:r>
              <a:rPr lang="ru-RU" sz="1600" dirty="0" err="1">
                <a:latin typeface="Futura PT Light" panose="020B0402020204020303" pitchFamily="34" charset="-52"/>
              </a:rPr>
              <a:t>бимформинг</a:t>
            </a:r>
            <a:r>
              <a:rPr lang="ru-RU" sz="1600" dirty="0">
                <a:latin typeface="Futura PT Light" panose="020B0402020204020303" pitchFamily="34" charset="-52"/>
              </a:rPr>
              <a:t> для тысяч элементов потребует огромного числа отдельных АЦП/ЦАП, поэтому применяют гибридные схемы (Рис. 5 (а)). 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715996B-F08F-62BC-B929-3180FE087448}"/>
              </a:ext>
            </a:extLst>
          </p:cNvPr>
          <p:cNvSpPr/>
          <p:nvPr/>
        </p:nvSpPr>
        <p:spPr>
          <a:xfrm>
            <a:off x="182646" y="2062874"/>
            <a:ext cx="6666875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7BAD5E9-30D8-F4CC-134C-48E09D40F3F8}"/>
              </a:ext>
            </a:extLst>
          </p:cNvPr>
          <p:cNvSpPr txBox="1"/>
          <p:nvPr/>
        </p:nvSpPr>
        <p:spPr>
          <a:xfrm>
            <a:off x="191125" y="2133161"/>
            <a:ext cx="665655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Гибридный </a:t>
            </a:r>
            <a:r>
              <a:rPr kumimoji="0" lang="ru-RU" sz="1600" b="0" i="0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бимформинг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45402FE3-ADF6-2FF0-D909-A125C9D0EB48}"/>
              </a:ext>
            </a:extLst>
          </p:cNvPr>
          <p:cNvSpPr/>
          <p:nvPr/>
        </p:nvSpPr>
        <p:spPr>
          <a:xfrm>
            <a:off x="8001511" y="2777310"/>
            <a:ext cx="3471876" cy="3279895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E97FC37-A77D-29D7-DB70-0B481E3A2BD7}"/>
              </a:ext>
            </a:extLst>
          </p:cNvPr>
          <p:cNvSpPr txBox="1"/>
          <p:nvPr/>
        </p:nvSpPr>
        <p:spPr>
          <a:xfrm>
            <a:off x="8001509" y="3256439"/>
            <a:ext cx="3471877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Отражательная поверхность может менять свою диаграмму рассеяния и направлять отраженную волну на абонента. Такие решетки могут управляться через стабильный канал связи с базовой станцией или иметь встроенную систему слежения за абонентом через обработку изображения, поступающего в управляющую цепь в реальном времени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A7873C1A-EBC5-1B8B-0C13-14F8F6E5076C}"/>
              </a:ext>
            </a:extLst>
          </p:cNvPr>
          <p:cNvSpPr/>
          <p:nvPr/>
        </p:nvSpPr>
        <p:spPr>
          <a:xfrm>
            <a:off x="7993032" y="2749390"/>
            <a:ext cx="3471876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DE5322B-81AB-BFED-9D7E-68C921ADF43F}"/>
              </a:ext>
            </a:extLst>
          </p:cNvPr>
          <p:cNvSpPr txBox="1"/>
          <p:nvPr/>
        </p:nvSpPr>
        <p:spPr>
          <a:xfrm>
            <a:off x="8001510" y="2819677"/>
            <a:ext cx="3466502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Отражательные поверхности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(IRS)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4365AE97-307B-4205-96E7-37C04FF865AF}"/>
              </a:ext>
            </a:extLst>
          </p:cNvPr>
          <p:cNvSpPr/>
          <p:nvPr/>
        </p:nvSpPr>
        <p:spPr>
          <a:xfrm>
            <a:off x="182647" y="828716"/>
            <a:ext cx="11537124" cy="1111325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E818FBB-E97E-B3E7-1899-31494CE5975B}"/>
              </a:ext>
            </a:extLst>
          </p:cNvPr>
          <p:cNvSpPr txBox="1"/>
          <p:nvPr/>
        </p:nvSpPr>
        <p:spPr>
          <a:xfrm>
            <a:off x="172797" y="1304986"/>
            <a:ext cx="11537121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Большое количество вариантов разработки антенных элементов с использованием линз, отражателей, а также метаматериалов. Малая длина волны в ТГц-диапазоне делает возможным создание ультра-массивных MIMO (UM-MIMO) решеток компактных габаритов.</a:t>
            </a: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id="{05AEA081-4BE0-A1B6-AB7E-B57B4905E943}"/>
              </a:ext>
            </a:extLst>
          </p:cNvPr>
          <p:cNvSpPr/>
          <p:nvPr/>
        </p:nvSpPr>
        <p:spPr>
          <a:xfrm>
            <a:off x="174168" y="800795"/>
            <a:ext cx="11537124" cy="433904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DE58E03-2F47-DC86-59BC-23A67024CC0C}"/>
              </a:ext>
            </a:extLst>
          </p:cNvPr>
          <p:cNvSpPr txBox="1"/>
          <p:nvPr/>
        </p:nvSpPr>
        <p:spPr>
          <a:xfrm>
            <a:off x="182646" y="871082"/>
            <a:ext cx="1151926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Антенные системы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6585114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3FD34B-5462-71A5-5CE5-CD84D3119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B60E51B2-D085-F2ED-6EBA-7D8AE018D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11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F601D478-873D-E96B-BF0D-012508DB727A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Аналого-цифровое преобразование сигналов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13B6B8F9-AF83-CA9A-F8D5-A7F7A048A129}"/>
              </a:ext>
            </a:extLst>
          </p:cNvPr>
          <p:cNvSpPr/>
          <p:nvPr/>
        </p:nvSpPr>
        <p:spPr>
          <a:xfrm>
            <a:off x="232377" y="801966"/>
            <a:ext cx="11407315" cy="2007810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C4AC21-67D2-D079-63A2-92DA20452C46}"/>
                  </a:ext>
                </a:extLst>
              </p:cNvPr>
              <p:cNvSpPr txBox="1"/>
              <p:nvPr/>
            </p:nvSpPr>
            <p:spPr>
              <a:xfrm>
                <a:off x="232377" y="1295539"/>
                <a:ext cx="11407313" cy="13080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Требуемые полосы для Терабитных скоростей передачи данных могут достигать десятков и сотен ГГц. Электронные АЦП/ЦАП с необходимой скоростью и разрешением либо ещё не доступны, либо потребляют слишком много энергии.</a:t>
                </a:r>
              </a:p>
              <a:p>
                <a:pPr marR="0" lvl="0" algn="l" defTabSz="914172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1800"/>
                  </a:spcAft>
                  <a:buClrTx/>
                  <a:buSzTx/>
                  <a:tabLst/>
                  <a:defRPr/>
                </a:pPr>
                <a:r>
                  <a:rPr lang="ru-RU" sz="1600" dirty="0">
                    <a:latin typeface="Futura PT Light" panose="020B0402020204020303" pitchFamily="34" charset="-52"/>
                  </a:rPr>
                  <a:t>В настоящее время экспериментально продемонстрированы современные АЦП, способные выполнять дискретизацию с частотой более </a:t>
                </a:r>
                <a14:m>
                  <m:oMath xmlns:m="http://schemas.openxmlformats.org/officeDocument/2006/math">
                    <m:r>
                      <a:rPr lang="ru-RU" sz="1400" i="1" dirty="0" smtClean="0">
                        <a:latin typeface="Cambria Math" panose="02040503050406030204" pitchFamily="18" charset="0"/>
                      </a:rPr>
                      <m:t>100</m:t>
                    </m:r>
                    <m:r>
                      <a:rPr lang="en-US" sz="1400" b="0" i="1" dirty="0" smtClean="0">
                        <a:latin typeface="Cambria Math" panose="02040503050406030204" pitchFamily="18" charset="0"/>
                      </a:rPr>
                      <m:t>⋅</m:t>
                    </m:r>
                    <m:sSup>
                      <m:sSupPr>
                        <m:ctrlPr>
                          <a:rPr lang="en-US" sz="1400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1400" b="0" i="1" dirty="0" smtClean="0"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</m:oMath>
                </a14:m>
                <a:r>
                  <a:rPr lang="ru-RU" sz="1400" dirty="0">
                    <a:latin typeface="Futura PT Light" panose="020B0402020204020303" pitchFamily="34" charset="-52"/>
                  </a:rPr>
                  <a:t> </a:t>
                </a:r>
                <a:r>
                  <a:rPr lang="ru-RU" sz="1600" dirty="0">
                    <a:latin typeface="Futura PT Light" panose="020B0402020204020303" pitchFamily="34" charset="-52"/>
                  </a:rPr>
                  <a:t>отсчётов в секунду.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2C4AC21-67D2-D079-63A2-92DA20452C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77" y="1295539"/>
                <a:ext cx="11407313" cy="1308050"/>
              </a:xfrm>
              <a:prstGeom prst="rect">
                <a:avLst/>
              </a:prstGeom>
              <a:blipFill>
                <a:blip r:embed="rId2"/>
                <a:stretch>
                  <a:fillRect l="-267" t="-935" b="-560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1F3F7391-3D81-75C8-7266-A3DACF5752AA}"/>
              </a:ext>
            </a:extLst>
          </p:cNvPr>
          <p:cNvSpPr/>
          <p:nvPr/>
        </p:nvSpPr>
        <p:spPr>
          <a:xfrm>
            <a:off x="223898" y="774045"/>
            <a:ext cx="11407315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BAB7E01-3DCE-FD84-0D75-DB1758B20F95}"/>
              </a:ext>
            </a:extLst>
          </p:cNvPr>
          <p:cNvSpPr txBox="1"/>
          <p:nvPr/>
        </p:nvSpPr>
        <p:spPr>
          <a:xfrm>
            <a:off x="232377" y="844332"/>
            <a:ext cx="11389658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Что еще сдерживает переход к широким полосам в ТГц диапазон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  <p:pic>
        <p:nvPicPr>
          <p:cNvPr id="9" name="Рисунок 8" descr="Изображение выглядит как текст, снимок экрана, Шрифт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CB8B27-A30D-91F1-3778-956BE624CF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7045" y="3227631"/>
            <a:ext cx="9235666" cy="2590764"/>
          </a:xfrm>
          <a:prstGeom prst="rect">
            <a:avLst/>
          </a:prstGeom>
        </p:spPr>
      </p:pic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id="{77EDBE1C-5DBD-A13F-37F4-5D78B8E30CD8}"/>
              </a:ext>
            </a:extLst>
          </p:cNvPr>
          <p:cNvSpPr/>
          <p:nvPr/>
        </p:nvSpPr>
        <p:spPr>
          <a:xfrm>
            <a:off x="240856" y="3307943"/>
            <a:ext cx="2465024" cy="2510452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4F8D4AB-F098-088C-9500-BCAEF2B067B4}"/>
              </a:ext>
            </a:extLst>
          </p:cNvPr>
          <p:cNvSpPr txBox="1"/>
          <p:nvPr/>
        </p:nvSpPr>
        <p:spPr>
          <a:xfrm>
            <a:off x="240855" y="3801516"/>
            <a:ext cx="2465023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defTabSz="914172">
              <a:spcAft>
                <a:spcPts val="1800"/>
              </a:spcAft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Предлагается схема разделения оцифровываемого сигнала на частотные подканалы и отдельная их оцифровка с дальнейшим комбинированием.</a:t>
            </a:r>
          </a:p>
        </p:txBody>
      </p:sp>
      <p:sp>
        <p:nvSpPr>
          <p:cNvPr id="13" name="Прямоугольник 12">
            <a:extLst>
              <a:ext uri="{FF2B5EF4-FFF2-40B4-BE49-F238E27FC236}">
                <a16:creationId xmlns:a16="http://schemas.microsoft.com/office/drawing/2014/main" id="{24F8AA2A-8D76-213E-08BE-056B2743AB9A}"/>
              </a:ext>
            </a:extLst>
          </p:cNvPr>
          <p:cNvSpPr/>
          <p:nvPr/>
        </p:nvSpPr>
        <p:spPr>
          <a:xfrm>
            <a:off x="232377" y="3280022"/>
            <a:ext cx="2465024" cy="479128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383020-DABB-FB5C-C577-DCF75413E4AC}"/>
              </a:ext>
            </a:extLst>
          </p:cNvPr>
          <p:cNvSpPr txBox="1"/>
          <p:nvPr/>
        </p:nvSpPr>
        <p:spPr>
          <a:xfrm>
            <a:off x="239811" y="3350309"/>
            <a:ext cx="2461209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</a:rPr>
              <a:t>Предлагаемое решение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Medium" panose="020B0602020204020303" pitchFamily="34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148595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8500F5-6FA0-9A5B-DAB5-C78407E7AD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8B3BB084-202A-C7FF-CFE2-9A9BF9DD5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2E9659-7330-4041-992D-7E27EA1B5C74}" type="slidenum">
              <a:rPr lang="ru-RU" sz="1600" smtClean="0">
                <a:solidFill>
                  <a:schemeClr val="tx1"/>
                </a:solidFill>
                <a:latin typeface="Futura PT Book" panose="020B0502020204020303" pitchFamily="34" charset="-52"/>
              </a:rPr>
              <a:t>12</a:t>
            </a:fld>
            <a:endParaRPr lang="ru-RU" sz="1600" dirty="0">
              <a:solidFill>
                <a:schemeClr val="tx1"/>
              </a:solidFill>
              <a:latin typeface="Futura PT Book" panose="020B0502020204020303" pitchFamily="34" charset="-52"/>
            </a:endParaRPr>
          </a:p>
        </p:txBody>
      </p:sp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AA414EAE-727B-562A-44A7-435EC677734D}"/>
              </a:ext>
            </a:extLst>
          </p:cNvPr>
          <p:cNvSpPr txBox="1">
            <a:spLocks/>
          </p:cNvSpPr>
          <p:nvPr/>
        </p:nvSpPr>
        <p:spPr>
          <a:xfrm>
            <a:off x="66149" y="70133"/>
            <a:ext cx="9886756" cy="5826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3200" dirty="0">
                <a:latin typeface="Futura PT Book" panose="020B0502020204020303" pitchFamily="34" charset="-52"/>
              </a:rPr>
              <a:t>Заключение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17A6D900-6CDA-DE30-D7AF-2F85089306EB}"/>
              </a:ext>
            </a:extLst>
          </p:cNvPr>
          <p:cNvSpPr/>
          <p:nvPr/>
        </p:nvSpPr>
        <p:spPr>
          <a:xfrm>
            <a:off x="316353" y="1054457"/>
            <a:ext cx="5477956" cy="4926634"/>
          </a:xfrm>
          <a:prstGeom prst="rect">
            <a:avLst/>
          </a:prstGeom>
          <a:solidFill>
            <a:srgbClr val="F2F5F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936000" rIns="288000"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utura PT Ligh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294900-8D82-2AD2-296E-21312CE45B70}"/>
              </a:ext>
            </a:extLst>
          </p:cNvPr>
          <p:cNvSpPr txBox="1"/>
          <p:nvPr/>
        </p:nvSpPr>
        <p:spPr>
          <a:xfrm>
            <a:off x="316354" y="1797784"/>
            <a:ext cx="5477955" cy="3262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 defTabSz="914172"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ТГц диапазон открывает уникальную возможность для реализации принципиально новых классов сервисов 6G, однако сопровождается огромным количеством инженерных вызовов в области полупроводников, фотоники, антенной и вычислительной техники.</a:t>
            </a: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Для практической реализации систем необходима согласованная разработка сигналов, аппаратуры и сетевой архитектуры. </a:t>
            </a:r>
          </a:p>
          <a:p>
            <a:pPr marL="285750" marR="0" lvl="0" indent="-285750" algn="l" defTabSz="91417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ru-RU" sz="1600" dirty="0">
                <a:latin typeface="Futura PT Light" panose="020B0402020204020303" pitchFamily="34" charset="-52"/>
              </a:rPr>
              <a:t>Коммерческие сети в ТГц диапазоне пока не развернуты, а находятся скорее на стадии исследований и прототипирования.</a:t>
            </a:r>
            <a:endParaRPr lang="en-US" sz="1600" dirty="0">
              <a:latin typeface="Futura PT Light" panose="020B0402020204020303" pitchFamily="34" charset="-52"/>
            </a:endParaRPr>
          </a:p>
        </p:txBody>
      </p:sp>
      <p:pic>
        <p:nvPicPr>
          <p:cNvPr id="2052" name="Picture 4" descr="Что такое связь 6G, и как она работает?">
            <a:extLst>
              <a:ext uri="{FF2B5EF4-FFF2-40B4-BE49-F238E27FC236}">
                <a16:creationId xmlns:a16="http://schemas.microsoft.com/office/drawing/2014/main" id="{3C8CCEE3-6E6F-E109-B998-CCC1348410C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878" r="13941"/>
          <a:stretch>
            <a:fillRect/>
          </a:stretch>
        </p:blipFill>
        <p:spPr bwMode="auto">
          <a:xfrm>
            <a:off x="6111498" y="1026535"/>
            <a:ext cx="5291600" cy="4954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4896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0404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1E7811-75EA-1455-E734-71574A6B73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60;p15">
            <a:extLst>
              <a:ext uri="{FF2B5EF4-FFF2-40B4-BE49-F238E27FC236}">
                <a16:creationId xmlns:a16="http://schemas.microsoft.com/office/drawing/2014/main" id="{07F0FD7F-83F0-5CE1-8FBF-19F3BB36EA3F}"/>
              </a:ext>
            </a:extLst>
          </p:cNvPr>
          <p:cNvSpPr txBox="1"/>
          <p:nvPr/>
        </p:nvSpPr>
        <p:spPr>
          <a:xfrm>
            <a:off x="0" y="2190372"/>
            <a:ext cx="12192000" cy="1103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1" tIns="22849" rIns="45711" bIns="22849" anchor="t" anchorCtr="0">
            <a:noAutofit/>
          </a:bodyPr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ru-RU" sz="4799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charset="-52"/>
                <a:cs typeface="Arial"/>
                <a:sym typeface="Arial"/>
              </a:rPr>
              <a:t>Спасибо за внимание!</a:t>
            </a:r>
          </a:p>
        </p:txBody>
      </p:sp>
      <p:sp>
        <p:nvSpPr>
          <p:cNvPr id="10" name="Google Shape;60;p15">
            <a:extLst>
              <a:ext uri="{FF2B5EF4-FFF2-40B4-BE49-F238E27FC236}">
                <a16:creationId xmlns:a16="http://schemas.microsoft.com/office/drawing/2014/main" id="{DB943B18-E43A-24C2-840D-AF153C46FBF0}"/>
              </a:ext>
            </a:extLst>
          </p:cNvPr>
          <p:cNvSpPr txBox="1"/>
          <p:nvPr/>
        </p:nvSpPr>
        <p:spPr>
          <a:xfrm>
            <a:off x="0" y="3429000"/>
            <a:ext cx="12192000" cy="14347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11" tIns="22849" rIns="45711" bIns="22849" anchor="t" anchorCtr="0">
            <a:noAutofit/>
          </a:bodyPr>
          <a:lstStyle/>
          <a:p>
            <a:pPr marL="0" marR="0" lvl="0" indent="0" algn="ctr" defTabSz="45715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-US" sz="1799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Medium" panose="020B0602020204020303" pitchFamily="34" charset="-52"/>
                <a:cs typeface="Arial"/>
                <a:sym typeface="Arial"/>
              </a:rPr>
              <a:t>Email:</a:t>
            </a:r>
            <a:r>
              <a:rPr kumimoji="0" lang="en-US" sz="1799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Futura PT Light" panose="020B0402020204020303" pitchFamily="34" charset="-52"/>
                <a:cs typeface="Arial"/>
                <a:sym typeface="Arial"/>
              </a:rPr>
              <a:t> ilya.voropaev@metalab.ifmo.ru</a:t>
            </a:r>
            <a:endParaRPr kumimoji="0" lang="ru-RU" sz="1799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Futura PT Light" panose="020B0402020204020303" pitchFamily="34" charset="-52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3736590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10027</TotalTime>
  <Words>1048</Words>
  <Application>Microsoft Office PowerPoint</Application>
  <PresentationFormat>Широкоэкранный</PresentationFormat>
  <Paragraphs>112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2" baseType="lpstr">
      <vt:lpstr>Futura PT Light</vt:lpstr>
      <vt:lpstr>Futura PT Medium</vt:lpstr>
      <vt:lpstr>Futura PT Book</vt:lpstr>
      <vt:lpstr>Aptos Display</vt:lpstr>
      <vt:lpstr>Cambria Math</vt:lpstr>
      <vt:lpstr>Calibri</vt:lpstr>
      <vt:lpstr>Arial</vt:lpstr>
      <vt:lpstr>Aptos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Илья Воропаев</dc:creator>
  <cp:lastModifiedBy>Илья Воропаев</cp:lastModifiedBy>
  <cp:revision>1046</cp:revision>
  <dcterms:created xsi:type="dcterms:W3CDTF">2025-01-04T18:18:17Z</dcterms:created>
  <dcterms:modified xsi:type="dcterms:W3CDTF">2026-01-16T10:28:26Z</dcterms:modified>
</cp:coreProperties>
</file>